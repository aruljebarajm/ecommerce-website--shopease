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1eb07da-1336-e3c8-c9d6-a5030f0fc53c}">
          <p14:sldIdLst>
            <p14:sldId id="256"/>
            <p14:sldId id="257"/>
            <p14:sldId id="258"/>
          </p14:sldIdLst>
        </p14:section>
        <p14:section name="Design" id="{94a562aa-7384-24c8-1f0d-923f12130d0d}">
          <p14:sldIdLst>
            <p14:sldId id="259"/>
            <p14:sldId id="260"/>
          </p14:sldIdLst>
        </p14:section>
        <p14:section name="Implementation" id="{49529f84-a8d5-92a5-ea8b-8e5cd0120526}">
          <p14:sldIdLst>
            <p14:sldId id="261"/>
            <p14:sldId id="262"/>
          </p14:sldIdLst>
        </p14:section>
        <p14:section name="Results" id="{b96f176b-1293-300c-da39-19f40a9609e3}">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Arul Jebaraj M, a seventh-semester CSE student at University College of Engineering, BIT Campus. I will present my 30-day MERN stack internship at Fantasy Solution, Tiruchirappalli, and the project I built: ShopEase, an e-commerce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Fantasy Solution is an IT solutions and training company in Melapudur, Tiruchirappalli. It offers software development, web design and hosting, real-time project work and IT training. My domain was MERN stack development, from 1 to 30 June 2026, under industrial expert Mohamed Farook, a software developer. Vision: to be a leading IT company providing consulting and the best business software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small shops sell only through physical stores or social media pages. Customers cannot see the full catalog or order at any time, the owner manages stock and orders by hand, and nobody can track an order after it is placed. The objective was to build a complete MERN online store, ShopEase, that solves this, and to learn the full stack in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ShopEase has two applications. The React client, deployed on Vercel, shows the pages and sends HTTP requests. The Express server on Node.js applies the rules and authentication, and uses Mongoose to read and write MongoDB, which holds products, users, orders and reviews. Data travels as JSON. When an order is placed or its status changes, the server sends an email through an SMTP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JavaScript, React built with Vite, React Router, Context API and Axios. Backend: Node.js and Express.js, with JWT and bcrypt for secure login and an SMTP email service. Database: MongoDB with Mongoose, and MongoDB Compass during learning. Tools: Git, GitHub, VS Code, curl for API testing, and Vercel for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split the work into six modules and built each one: the product catalog, shopping cart, customer accounts, checkout and orders, order tracking with email notification, and the admin dashboard. I designed the models, wrote the routes and the React components, and connected them through the REST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algorithm, cart to order. The subtotal is the sum of price times quantity. At checkout the client sends the items to POST api/orders, and the server calculates the total from stored prices. The order is saved with status Placed, payment Pending, and the first timeline entry, and the confirmation email is sent. After payment simulation it becomes Paid, and the admin moves the order through Processing, Shipped and Delivered with an email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from the deployed application. The home page and catalog, My Orders with the tracking timeline, and the admin dashboard where the status is changed from a drop-down. On the right is the real order confirmation email received by the customer. All fourteen test areas passed, covering the API, UI, order tracking and email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I learned React, Node.js with Express, MongoDB with Mongoose, and authentication with bcrypt and JWT. Beyond the code I learned industry practices: using Git and GitHub for version control, keeping secrets in environment variables, designing REST APIs, testing in the browser and with curl, and writing documentation such as the README and the env example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in 30 days I learned the MERN stack step by step and built ShopEase, a complete, deployed online store with order tracking, email updates and an admin dashboard. Future work includes SMS or WhatsApp notifications, a payment-provider sandbox, and automated tests. These are the documentation sources I used.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457200" y="4828032"/>
            <a:ext cx="4572000" cy="201168"/>
          </a:xfrm>
          <a:prstGeom prst="rect">
            <a:avLst/>
          </a:prstGeom>
          <a:noFill/>
          <a:ln/>
        </p:spPr>
        <p:txBody>
          <a:bodyPr wrap="square" lIns="0" tIns="0" rIns="0" bIns="0" rtlCol="0" anchor="ctr"/>
          <a:lstStyle/>
          <a:p>
            <a:pPr indent="0" marL="0">
              <a:buNone/>
            </a:pPr>
            <a:r>
              <a:rPr lang="en-US" sz="1000" dirty="0">
                <a:solidFill>
                  <a:schemeClr val="accent6"/>
                </a:solidFill>
              </a:rPr>
              <a:t>ShopEase | Summer Internship Report</a:t>
            </a:r>
            <a:endParaRPr lang="en-US" sz="10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394960" cy="13716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697480"/>
            <a:ext cx="5394960" cy="45720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777240"/>
            <a:ext cx="576072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SUMMER INTERNSHIP PROJECT PRESENTATION  |  CS3711</a:t>
            </a:r>
            <a:endParaRPr lang="en-US" sz="1200" dirty="0"/>
          </a:p>
        </p:txBody>
      </p:sp>
      <p:sp>
        <p:nvSpPr>
          <p:cNvPr id="3" name="Text 0"/>
          <p:cNvSpPr/>
          <p:nvPr>
            <p:ph idx="100" type="title" hasCustomPrompt="1"/>
          </p:nvPr>
        </p:nvSpPr>
        <p:spPr>
          <a:xfrm>
            <a:off x="548640" y="1234440"/>
            <a:ext cx="5394960" cy="1371600"/>
          </a:xfrm>
          <a:prstGeom prst="rect">
            <a:avLst/>
          </a:prstGeom>
          <a:noFill/>
          <a:ln/>
        </p:spPr>
        <p:txBody>
          <a:bodyPr wrap="square" lIns="0" tIns="0" rIns="0" bIns="0" rtlCol="0" anchor="b"/>
          <a:lstStyle/>
          <a:p>
            <a:pPr algn="l" indent="0" marL="0">
              <a:buNone/>
            </a:pPr>
            <a:r>
              <a:rPr lang="en-US" sz="3800" b="1" dirty="0">
                <a:solidFill>
                  <a:schemeClr val="bg1"/>
                </a:solidFill>
              </a:rPr>
              <a:t>E-Commerce Website – ShopEase</a:t>
            </a:r>
            <a:endParaRPr lang="en-US" sz="3800" dirty="0"/>
          </a:p>
        </p:txBody>
      </p:sp>
      <p:sp>
        <p:nvSpPr>
          <p:cNvPr id="4" name="Text 0"/>
          <p:cNvSpPr/>
          <p:nvPr>
            <p:ph idx="101" type="body" hasCustomPrompt="1"/>
          </p:nvPr>
        </p:nvSpPr>
        <p:spPr>
          <a:xfrm>
            <a:off x="548640" y="2697480"/>
            <a:ext cx="5394960" cy="457200"/>
          </a:xfrm>
          <a:prstGeom prst="rect">
            <a:avLst/>
          </a:prstGeom>
          <a:noFill/>
          <a:ln/>
        </p:spPr>
        <p:txBody>
          <a:bodyPr wrap="square" lIns="0" tIns="0" rIns="0" bIns="0" rtlCol="0" anchor="t"/>
          <a:lstStyle/>
          <a:p>
            <a:pPr algn="l" indent="0" marL="0">
              <a:buNone/>
            </a:pPr>
            <a:r>
              <a:rPr lang="en-US" sz="2000" dirty="0">
                <a:solidFill>
                  <a:schemeClr val="accent3"/>
                </a:solidFill>
              </a:rPr>
              <a:t>A MERN Stack Application</a:t>
            </a:r>
            <a:endParaRPr lang="en-US" sz="2000" dirty="0"/>
          </a:p>
        </p:txBody>
      </p:sp>
      <p:sp>
        <p:nvSpPr>
          <p:cNvPr id="5" name="Presenter"/>
          <p:cNvSpPr txBox="1"/>
          <p:nvPr/>
        </p:nvSpPr>
        <p:spPr>
          <a:xfrm>
            <a:off x="548640" y="3383280"/>
            <a:ext cx="5394960" cy="320040"/>
          </a:xfrm>
          <a:prstGeom prst="rect">
            <a:avLst/>
          </a:prstGeom>
          <a:noFill/>
          <a:ln/>
        </p:spPr>
        <p:txBody>
          <a:bodyPr wrap="square" lIns="0" tIns="0" rIns="0" bIns="0" rtlCol="0" anchor="ctr"/>
          <a:lstStyle/>
          <a:p>
            <a:pPr indent="0" marL="0">
              <a:buNone/>
            </a:pPr>
            <a:r>
              <a:rPr lang="en-US" sz="1800" b="1" dirty="0">
                <a:solidFill>
                  <a:schemeClr val="bg1"/>
                </a:solidFill>
              </a:rPr>
              <a:t>Arul Jebaraj M  |  810023104006</a:t>
            </a:r>
            <a:endParaRPr lang="en-US" sz="1800" dirty="0"/>
          </a:p>
        </p:txBody>
      </p:sp>
      <p:sp>
        <p:nvSpPr>
          <p:cNvPr id="6" name="Programme"/>
          <p:cNvSpPr txBox="1"/>
          <p:nvPr/>
        </p:nvSpPr>
        <p:spPr>
          <a:xfrm>
            <a:off x="548640" y="3721608"/>
            <a:ext cx="5394960" cy="274320"/>
          </a:xfrm>
          <a:prstGeom prst="rect">
            <a:avLst/>
          </a:prstGeom>
          <a:noFill/>
          <a:ln/>
        </p:spPr>
        <p:txBody>
          <a:bodyPr wrap="square" lIns="0" tIns="0" rIns="0" bIns="0" rtlCol="0" anchor="ctr"/>
          <a:lstStyle/>
          <a:p>
            <a:pPr indent="0" marL="0">
              <a:buNone/>
            </a:pPr>
            <a:r>
              <a:rPr lang="en-US" sz="1400" dirty="0">
                <a:solidFill>
                  <a:schemeClr val="bg2"/>
                </a:solidFill>
              </a:rPr>
              <a:t>B.E. Computer Science and Engineering, 7th Semester</a:t>
            </a:r>
            <a:endParaRPr lang="en-US" sz="1400" dirty="0"/>
          </a:p>
        </p:txBody>
      </p:sp>
      <p:sp>
        <p:nvSpPr>
          <p:cNvPr id="7" name="Institution"/>
          <p:cNvSpPr txBox="1"/>
          <p:nvPr/>
        </p:nvSpPr>
        <p:spPr>
          <a:xfrm>
            <a:off x="548640" y="3995928"/>
            <a:ext cx="4937760" cy="502920"/>
          </a:xfrm>
          <a:prstGeom prst="rect">
            <a:avLst/>
          </a:prstGeom>
          <a:noFill/>
          <a:ln/>
        </p:spPr>
        <p:txBody>
          <a:bodyPr wrap="square" lIns="0" tIns="0" rIns="0" bIns="0" rtlCol="0" anchor="t"/>
          <a:lstStyle/>
          <a:p>
            <a:pPr indent="0" marL="0">
              <a:buNone/>
            </a:pPr>
            <a:r>
              <a:rPr lang="en-US" sz="1400" dirty="0">
                <a:solidFill>
                  <a:schemeClr val="bg2"/>
                </a:solidFill>
              </a:rPr>
              <a:t>University College of Engineering (BIT Campus), Anna University, Tiruchirappalli</a:t>
            </a:r>
            <a:endParaRPr lang="en-US" sz="1400" dirty="0"/>
          </a:p>
        </p:txBody>
      </p:sp>
      <p:sp>
        <p:nvSpPr>
          <p:cNvPr id="8" name="Screenshot frame"/>
          <p:cNvSpPr/>
          <p:nvPr/>
        </p:nvSpPr>
        <p:spPr>
          <a:xfrm>
            <a:off x="6574536" y="448056"/>
            <a:ext cx="1755150" cy="3218688"/>
          </a:xfrm>
          <a:prstGeom prst="roundRect">
            <a:avLst>
              <a:gd name="adj" fmla="val 3126"/>
            </a:avLst>
          </a:prstGeom>
          <a:solidFill>
            <a:schemeClr val="bg2"/>
          </a:solidFill>
          <a:ln/>
          <a:effectLst>
            <a:outerShdw sx="100000" sy="100000" kx="0" ky="0" algn="bl" rotWithShape="0" blurRad="76200" dist="25400" dir="5400000">
              <a:srgbClr val="000000">
                <a:alpha val="14000"/>
              </a:srgbClr>
            </a:outerShdw>
          </a:effectLst>
        </p:spPr>
      </p:sp>
      <p:pic>
        <p:nvPicPr>
          <p:cNvPr id="9" name="Image 0" descr="ShopEase screenshot">    </p:cNvPr>
          <p:cNvPicPr>
            <a:picLocks noChangeAspect="1"/>
          </p:cNvPicPr>
          <p:nvPr/>
        </p:nvPicPr>
        <p:blipFill>
          <a:blip r:embed="rId1"/>
          <a:stretch>
            <a:fillRect/>
          </a:stretch>
        </p:blipFill>
        <p:spPr>
          <a:xfrm>
            <a:off x="6629400" y="502920"/>
            <a:ext cx="1645422" cy="3108960"/>
          </a:xfrm>
          <a:prstGeom prst="rect">
            <a:avLst/>
          </a:prstGeom>
        </p:spPr>
      </p:pic>
      <p:sp>
        <p:nvSpPr>
          <p:cNvPr id="10" name="Logo plate"/>
          <p:cNvSpPr/>
          <p:nvPr/>
        </p:nvSpPr>
        <p:spPr>
          <a:xfrm>
            <a:off x="5989320" y="3840480"/>
            <a:ext cx="2697480" cy="731520"/>
          </a:xfrm>
          <a:prstGeom prst="roundRect">
            <a:avLst>
              <a:gd name="adj" fmla="val 12500"/>
            </a:avLst>
          </a:prstGeom>
          <a:solidFill>
            <a:schemeClr val="bg1"/>
          </a:solidFill>
          <a:ln/>
        </p:spPr>
      </p:sp>
      <p:pic>
        <p:nvPicPr>
          <p:cNvPr id="11" name="Image 1" descr="Fantasy Solution logo">    </p:cNvPr>
          <p:cNvPicPr>
            <a:picLocks noChangeAspect="1"/>
          </p:cNvPicPr>
          <p:nvPr/>
        </p:nvPicPr>
        <p:blipFill>
          <a:blip r:embed="rId2"/>
          <a:stretch>
            <a:fillRect/>
          </a:stretch>
        </p:blipFill>
        <p:spPr>
          <a:xfrm>
            <a:off x="6080760" y="3931920"/>
            <a:ext cx="2514600" cy="4744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Company profile and domain</a:t>
            </a:r>
            <a:endParaRPr lang="en-US" sz="3200" dirty="0"/>
          </a:p>
        </p:txBody>
      </p:sp>
      <p:sp>
        <p:nvSpPr>
          <p:cNvPr id="4" name="Company card"/>
          <p:cNvSpPr/>
          <p:nvPr/>
        </p:nvSpPr>
        <p:spPr>
          <a:xfrm>
            <a:off x="457200" y="1097280"/>
            <a:ext cx="3977640" cy="3429000"/>
          </a:xfrm>
          <a:prstGeom prst="roundRect">
            <a:avLst>
              <a:gd name="adj" fmla="val 2667"/>
            </a:avLst>
          </a:prstGeom>
          <a:solidFill>
            <a:schemeClr val="bg2"/>
          </a:solidFill>
          <a:ln/>
        </p:spPr>
      </p:sp>
      <p:sp>
        <p:nvSpPr>
          <p:cNvPr id="5" name="Company circle"/>
          <p:cNvSpPr/>
          <p:nvPr/>
        </p:nvSpPr>
        <p:spPr>
          <a:xfrm>
            <a:off x="640080" y="1261872"/>
            <a:ext cx="457200" cy="457200"/>
          </a:xfrm>
          <a:prstGeom prst="ellipse">
            <a:avLst/>
          </a:prstGeom>
          <a:solidFill>
            <a:srgbClr val="2F8F6B"/>
          </a:solidFill>
          <a:ln/>
        </p:spPr>
      </p:sp>
      <p:pic>
        <p:nvPicPr>
          <p:cNvPr id="6" name="Image 0" descr="Company">    </p:cNvPr>
          <p:cNvPicPr>
            <a:picLocks noChangeAspect="1"/>
          </p:cNvPicPr>
          <p:nvPr/>
        </p:nvPicPr>
        <p:blipFill>
          <a:blip r:embed="rId1"/>
          <a:stretch>
            <a:fillRect/>
          </a:stretch>
        </p:blipFill>
        <p:spPr>
          <a:xfrm>
            <a:off x="758952" y="1380744"/>
            <a:ext cx="219456" cy="219456"/>
          </a:xfrm>
          <a:prstGeom prst="rect">
            <a:avLst/>
          </a:prstGeom>
        </p:spPr>
      </p:pic>
      <p:sp>
        <p:nvSpPr>
          <p:cNvPr id="7" name="Company name"/>
          <p:cNvSpPr txBox="1"/>
          <p:nvPr/>
        </p:nvSpPr>
        <p:spPr>
          <a:xfrm>
            <a:off x="1234440" y="1261872"/>
            <a:ext cx="3017520" cy="457200"/>
          </a:xfrm>
          <a:prstGeom prst="rect">
            <a:avLst/>
          </a:prstGeom>
          <a:noFill/>
          <a:ln/>
        </p:spPr>
        <p:txBody>
          <a:bodyPr wrap="square" lIns="0" tIns="0" rIns="0" bIns="0" rtlCol="0" anchor="ctr"/>
          <a:lstStyle/>
          <a:p>
            <a:pPr indent="0" marL="0">
              <a:buNone/>
            </a:pPr>
            <a:r>
              <a:rPr lang="en-US" sz="1800" b="1" dirty="0">
                <a:solidFill>
                  <a:schemeClr val="tx2"/>
                </a:solidFill>
              </a:rPr>
              <a:t>Fantasy Solution, Trichy</a:t>
            </a:r>
            <a:endParaRPr lang="en-US" sz="1800" dirty="0"/>
          </a:p>
        </p:txBody>
      </p:sp>
      <p:sp>
        <p:nvSpPr>
          <p:cNvPr id="8" name="Company about"/>
          <p:cNvSpPr txBox="1"/>
          <p:nvPr/>
        </p:nvSpPr>
        <p:spPr>
          <a:xfrm>
            <a:off x="640080" y="1828800"/>
            <a:ext cx="3611880" cy="457200"/>
          </a:xfrm>
          <a:prstGeom prst="rect">
            <a:avLst/>
          </a:prstGeom>
          <a:noFill/>
          <a:ln/>
        </p:spPr>
        <p:txBody>
          <a:bodyPr wrap="square" lIns="0" tIns="0" rIns="0" bIns="0" rtlCol="0" anchor="t"/>
          <a:lstStyle/>
          <a:p>
            <a:pPr indent="0" marL="0">
              <a:buNone/>
            </a:pPr>
            <a:r>
              <a:rPr lang="en-US" sz="1400" dirty="0">
                <a:solidFill>
                  <a:schemeClr val="accent6"/>
                </a:solidFill>
              </a:rPr>
              <a:t>IT solutions and training company, Melapudur, Tiruchirappalli</a:t>
            </a:r>
            <a:endParaRPr lang="en-US" sz="1400" dirty="0"/>
          </a:p>
        </p:txBody>
      </p:sp>
      <p:sp>
        <p:nvSpPr>
          <p:cNvPr id="9" name="Services"/>
          <p:cNvSpPr txBox="1"/>
          <p:nvPr/>
        </p:nvSpPr>
        <p:spPr>
          <a:xfrm>
            <a:off x="640080" y="2423160"/>
            <a:ext cx="3611880" cy="12801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Software development</a:t>
            </a:r>
            <a:endParaRPr lang="en-US" sz="1400" dirty="0"/>
          </a:p>
          <a:p>
            <a:pPr marL="177800" indent="-177800">
              <a:spcAft>
                <a:spcPts val="600"/>
              </a:spcAft>
              <a:buSzPct val="100000"/>
              <a:buChar char="•"/>
            </a:pPr>
            <a:r>
              <a:rPr lang="en-US" sz="1400" dirty="0">
                <a:solidFill>
                  <a:schemeClr val="tx1"/>
                </a:solidFill>
              </a:rPr>
              <a:t>Web design and hosting</a:t>
            </a:r>
            <a:endParaRPr lang="en-US" sz="1400" dirty="0"/>
          </a:p>
          <a:p>
            <a:pPr marL="177800" indent="-177800">
              <a:spcAft>
                <a:spcPts val="600"/>
              </a:spcAft>
              <a:buSzPct val="100000"/>
              <a:buChar char="•"/>
            </a:pPr>
            <a:r>
              <a:rPr lang="en-US" sz="1400" dirty="0">
                <a:solidFill>
                  <a:schemeClr val="tx1"/>
                </a:solidFill>
              </a:rPr>
              <a:t>Real-time project work</a:t>
            </a:r>
            <a:endParaRPr lang="en-US" sz="1400" dirty="0"/>
          </a:p>
          <a:p>
            <a:pPr marL="177800" indent="-177800">
              <a:spcAft>
                <a:spcPts val="600"/>
              </a:spcAft>
              <a:buSzPct val="100000"/>
              <a:buChar char="•"/>
            </a:pPr>
            <a:r>
              <a:rPr lang="en-US" sz="1400" dirty="0">
                <a:solidFill>
                  <a:schemeClr val="tx1"/>
                </a:solidFill>
              </a:rPr>
              <a:t>IT training for students and businesses</a:t>
            </a:r>
            <a:endParaRPr lang="en-US" sz="1400" dirty="0"/>
          </a:p>
        </p:txBody>
      </p:sp>
      <p:sp>
        <p:nvSpPr>
          <p:cNvPr id="10" name="Supervisor"/>
          <p:cNvSpPr txBox="1"/>
          <p:nvPr/>
        </p:nvSpPr>
        <p:spPr>
          <a:xfrm>
            <a:off x="640080" y="3840480"/>
            <a:ext cx="3611880" cy="548640"/>
          </a:xfrm>
          <a:prstGeom prst="rect">
            <a:avLst/>
          </a:prstGeom>
          <a:noFill/>
          <a:ln/>
        </p:spPr>
        <p:txBody>
          <a:bodyPr wrap="square" lIns="0" tIns="0" rIns="0" bIns="0" rtlCol="0" anchor="t"/>
          <a:lstStyle/>
          <a:p>
            <a:pPr indent="0" marL="0">
              <a:buNone/>
            </a:pPr>
            <a:r>
              <a:rPr lang="en-US" sz="1300" b="1" dirty="0">
                <a:solidFill>
                  <a:schemeClr val="tx2"/>
                </a:solidFill>
              </a:rPr>
              <a:t>Industrial expert: Mohamed Farook, Software Developer</a:t>
            </a:r>
            <a:endParaRPr lang="en-US" sz="1300" dirty="0"/>
          </a:p>
        </p:txBody>
      </p:sp>
      <p:sp>
        <p:nvSpPr>
          <p:cNvPr id="11" name="Domain card"/>
          <p:cNvSpPr/>
          <p:nvPr/>
        </p:nvSpPr>
        <p:spPr>
          <a:xfrm>
            <a:off x="4709160" y="1097280"/>
            <a:ext cx="3977640" cy="3429000"/>
          </a:xfrm>
          <a:prstGeom prst="roundRect">
            <a:avLst>
              <a:gd name="adj" fmla="val 2667"/>
            </a:avLst>
          </a:prstGeom>
          <a:solidFill>
            <a:schemeClr val="tx2"/>
          </a:solidFill>
          <a:ln/>
        </p:spPr>
      </p:sp>
      <p:sp>
        <p:nvSpPr>
          <p:cNvPr id="12" name="Domain label"/>
          <p:cNvSpPr txBox="1"/>
          <p:nvPr/>
        </p:nvSpPr>
        <p:spPr>
          <a:xfrm>
            <a:off x="4937760" y="1234440"/>
            <a:ext cx="3474720" cy="201168"/>
          </a:xfrm>
          <a:prstGeom prst="rect">
            <a:avLst/>
          </a:prstGeom>
          <a:noFill/>
          <a:ln/>
        </p:spPr>
        <p:txBody>
          <a:bodyPr wrap="square" lIns="0" tIns="0" rIns="0" bIns="0" rtlCol="0" anchor="ctr"/>
          <a:lstStyle/>
          <a:p>
            <a:pPr indent="0" marL="0">
              <a:buNone/>
            </a:pPr>
            <a:r>
              <a:rPr lang="en-US" sz="1100" b="1" spc="100" kern="0" dirty="0">
                <a:solidFill>
                  <a:schemeClr val="accent3"/>
                </a:solidFill>
              </a:rPr>
              <a:t>DOMAIN</a:t>
            </a:r>
            <a:endParaRPr lang="en-US" sz="1100" dirty="0"/>
          </a:p>
        </p:txBody>
      </p:sp>
      <p:sp>
        <p:nvSpPr>
          <p:cNvPr id="13" name="Domain"/>
          <p:cNvSpPr txBox="1"/>
          <p:nvPr/>
        </p:nvSpPr>
        <p:spPr>
          <a:xfrm>
            <a:off x="4937760" y="1444752"/>
            <a:ext cx="3474720" cy="365760"/>
          </a:xfrm>
          <a:prstGeom prst="rect">
            <a:avLst/>
          </a:prstGeom>
          <a:noFill/>
          <a:ln/>
        </p:spPr>
        <p:txBody>
          <a:bodyPr wrap="square" lIns="0" tIns="0" rIns="0" bIns="0" rtlCol="0" anchor="ctr"/>
          <a:lstStyle/>
          <a:p>
            <a:pPr indent="0" marL="0">
              <a:buNone/>
            </a:pPr>
            <a:r>
              <a:rPr lang="en-US" sz="2000" b="1" dirty="0">
                <a:solidFill>
                  <a:schemeClr val="bg1"/>
                </a:solidFill>
                <a:latin typeface="+mj-lt" pitchFamily="34" charset="0"/>
                <a:ea typeface="+mj-lt" pitchFamily="34" charset="-122"/>
                <a:cs typeface="+mj-lt" pitchFamily="34" charset="-120"/>
              </a:rPr>
              <a:t>MERN Stack Development</a:t>
            </a:r>
            <a:endParaRPr lang="en-US" sz="2000" dirty="0"/>
          </a:p>
        </p:txBody>
      </p:sp>
      <p:sp>
        <p:nvSpPr>
          <p:cNvPr id="14" name="Duration"/>
          <p:cNvSpPr txBox="1"/>
          <p:nvPr/>
        </p:nvSpPr>
        <p:spPr>
          <a:xfrm>
            <a:off x="4937760" y="1828800"/>
            <a:ext cx="3474720" cy="274320"/>
          </a:xfrm>
          <a:prstGeom prst="rect">
            <a:avLst/>
          </a:prstGeom>
          <a:noFill/>
          <a:ln/>
        </p:spPr>
        <p:txBody>
          <a:bodyPr wrap="square" lIns="0" tIns="0" rIns="0" bIns="0" rtlCol="0" anchor="ctr"/>
          <a:lstStyle/>
          <a:p>
            <a:pPr indent="0" marL="0">
              <a:buNone/>
            </a:pPr>
            <a:r>
              <a:rPr lang="en-US" sz="1400" dirty="0">
                <a:solidFill>
                  <a:schemeClr val="bg2"/>
                </a:solidFill>
              </a:rPr>
              <a:t>01/06/2026 to 30/06/2026  (30 days)</a:t>
            </a:r>
            <a:endParaRPr lang="en-US" sz="1400" dirty="0"/>
          </a:p>
        </p:txBody>
      </p:sp>
      <p:sp>
        <p:nvSpPr>
          <p:cNvPr id="15" name="Letter circle"/>
          <p:cNvSpPr/>
          <p:nvPr/>
        </p:nvSpPr>
        <p:spPr>
          <a:xfrm>
            <a:off x="4937760" y="2286000"/>
            <a:ext cx="420624" cy="420624"/>
          </a:xfrm>
          <a:prstGeom prst="ellipse">
            <a:avLst/>
          </a:prstGeom>
          <a:solidFill>
            <a:schemeClr val="accent3"/>
          </a:solidFill>
          <a:ln/>
        </p:spPr>
      </p:sp>
      <p:sp>
        <p:nvSpPr>
          <p:cNvPr id="16" name="Letter"/>
          <p:cNvSpPr txBox="1"/>
          <p:nvPr/>
        </p:nvSpPr>
        <p:spPr>
          <a:xfrm>
            <a:off x="4937760" y="2286000"/>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M</a:t>
            </a:r>
            <a:endParaRPr lang="en-US" sz="1800" dirty="0"/>
          </a:p>
        </p:txBody>
      </p:sp>
      <p:sp>
        <p:nvSpPr>
          <p:cNvPr id="17" name="Tech"/>
          <p:cNvSpPr txBox="1"/>
          <p:nvPr/>
        </p:nvSpPr>
        <p:spPr>
          <a:xfrm>
            <a:off x="5532120" y="2286000"/>
            <a:ext cx="1463040" cy="420624"/>
          </a:xfrm>
          <a:prstGeom prst="rect">
            <a:avLst/>
          </a:prstGeom>
          <a:noFill/>
          <a:ln/>
        </p:spPr>
        <p:txBody>
          <a:bodyPr wrap="square" lIns="0" tIns="0" rIns="0" bIns="0" rtlCol="0" anchor="ctr"/>
          <a:lstStyle/>
          <a:p>
            <a:pPr indent="0" marL="0">
              <a:buNone/>
            </a:pPr>
            <a:r>
              <a:rPr lang="en-US" sz="1600" b="1" dirty="0">
                <a:solidFill>
                  <a:schemeClr val="bg1"/>
                </a:solidFill>
              </a:rPr>
              <a:t>MongoDB</a:t>
            </a:r>
            <a:endParaRPr lang="en-US" sz="1600" dirty="0"/>
          </a:p>
        </p:txBody>
      </p:sp>
      <p:sp>
        <p:nvSpPr>
          <p:cNvPr id="18" name="Tech role"/>
          <p:cNvSpPr txBox="1"/>
          <p:nvPr/>
        </p:nvSpPr>
        <p:spPr>
          <a:xfrm>
            <a:off x="6949440" y="2286000"/>
            <a:ext cx="1645920" cy="420624"/>
          </a:xfrm>
          <a:prstGeom prst="rect">
            <a:avLst/>
          </a:prstGeom>
          <a:noFill/>
          <a:ln/>
        </p:spPr>
        <p:txBody>
          <a:bodyPr wrap="square" lIns="0" tIns="0" rIns="0" bIns="0" rtlCol="0" anchor="ctr"/>
          <a:lstStyle/>
          <a:p>
            <a:pPr indent="0" marL="0">
              <a:buNone/>
            </a:pPr>
            <a:r>
              <a:rPr lang="en-US" sz="1400" dirty="0">
                <a:solidFill>
                  <a:schemeClr val="bg2"/>
                </a:solidFill>
              </a:rPr>
              <a:t>Database</a:t>
            </a:r>
            <a:endParaRPr lang="en-US" sz="1400" dirty="0"/>
          </a:p>
        </p:txBody>
      </p:sp>
      <p:sp>
        <p:nvSpPr>
          <p:cNvPr id="19" name="Letter circle"/>
          <p:cNvSpPr/>
          <p:nvPr/>
        </p:nvSpPr>
        <p:spPr>
          <a:xfrm>
            <a:off x="4937760" y="2816352"/>
            <a:ext cx="420624" cy="420624"/>
          </a:xfrm>
          <a:prstGeom prst="ellipse">
            <a:avLst/>
          </a:prstGeom>
          <a:solidFill>
            <a:schemeClr val="accent3"/>
          </a:solidFill>
          <a:ln/>
        </p:spPr>
      </p:sp>
      <p:sp>
        <p:nvSpPr>
          <p:cNvPr id="20" name="Letter"/>
          <p:cNvSpPr txBox="1"/>
          <p:nvPr/>
        </p:nvSpPr>
        <p:spPr>
          <a:xfrm>
            <a:off x="4937760" y="2816352"/>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E</a:t>
            </a:r>
            <a:endParaRPr lang="en-US" sz="1800" dirty="0"/>
          </a:p>
        </p:txBody>
      </p:sp>
      <p:sp>
        <p:nvSpPr>
          <p:cNvPr id="21" name="Tech"/>
          <p:cNvSpPr txBox="1"/>
          <p:nvPr/>
        </p:nvSpPr>
        <p:spPr>
          <a:xfrm>
            <a:off x="5532120" y="2816352"/>
            <a:ext cx="1463040" cy="420624"/>
          </a:xfrm>
          <a:prstGeom prst="rect">
            <a:avLst/>
          </a:prstGeom>
          <a:noFill/>
          <a:ln/>
        </p:spPr>
        <p:txBody>
          <a:bodyPr wrap="square" lIns="0" tIns="0" rIns="0" bIns="0" rtlCol="0" anchor="ctr"/>
          <a:lstStyle/>
          <a:p>
            <a:pPr indent="0" marL="0">
              <a:buNone/>
            </a:pPr>
            <a:r>
              <a:rPr lang="en-US" sz="1600" b="1" dirty="0">
                <a:solidFill>
                  <a:schemeClr val="bg1"/>
                </a:solidFill>
              </a:rPr>
              <a:t>Express.js</a:t>
            </a:r>
            <a:endParaRPr lang="en-US" sz="1600" dirty="0"/>
          </a:p>
        </p:txBody>
      </p:sp>
      <p:sp>
        <p:nvSpPr>
          <p:cNvPr id="22" name="Tech role"/>
          <p:cNvSpPr txBox="1"/>
          <p:nvPr/>
        </p:nvSpPr>
        <p:spPr>
          <a:xfrm>
            <a:off x="6949440" y="2816352"/>
            <a:ext cx="1645920" cy="420624"/>
          </a:xfrm>
          <a:prstGeom prst="rect">
            <a:avLst/>
          </a:prstGeom>
          <a:noFill/>
          <a:ln/>
        </p:spPr>
        <p:txBody>
          <a:bodyPr wrap="square" lIns="0" tIns="0" rIns="0" bIns="0" rtlCol="0" anchor="ctr"/>
          <a:lstStyle/>
          <a:p>
            <a:pPr indent="0" marL="0">
              <a:buNone/>
            </a:pPr>
            <a:r>
              <a:rPr lang="en-US" sz="1400" dirty="0">
                <a:solidFill>
                  <a:schemeClr val="bg2"/>
                </a:solidFill>
              </a:rPr>
              <a:t>Server and API</a:t>
            </a:r>
            <a:endParaRPr lang="en-US" sz="1400" dirty="0"/>
          </a:p>
        </p:txBody>
      </p:sp>
      <p:sp>
        <p:nvSpPr>
          <p:cNvPr id="23" name="Letter circle"/>
          <p:cNvSpPr/>
          <p:nvPr/>
        </p:nvSpPr>
        <p:spPr>
          <a:xfrm>
            <a:off x="4937760" y="3346704"/>
            <a:ext cx="420624" cy="420624"/>
          </a:xfrm>
          <a:prstGeom prst="ellipse">
            <a:avLst/>
          </a:prstGeom>
          <a:solidFill>
            <a:schemeClr val="accent3"/>
          </a:solidFill>
          <a:ln/>
        </p:spPr>
      </p:sp>
      <p:sp>
        <p:nvSpPr>
          <p:cNvPr id="24" name="Letter"/>
          <p:cNvSpPr txBox="1"/>
          <p:nvPr/>
        </p:nvSpPr>
        <p:spPr>
          <a:xfrm>
            <a:off x="4937760" y="3346704"/>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R</a:t>
            </a:r>
            <a:endParaRPr lang="en-US" sz="1800" dirty="0"/>
          </a:p>
        </p:txBody>
      </p:sp>
      <p:sp>
        <p:nvSpPr>
          <p:cNvPr id="25" name="Tech"/>
          <p:cNvSpPr txBox="1"/>
          <p:nvPr/>
        </p:nvSpPr>
        <p:spPr>
          <a:xfrm>
            <a:off x="5532120" y="3346704"/>
            <a:ext cx="1463040" cy="420624"/>
          </a:xfrm>
          <a:prstGeom prst="rect">
            <a:avLst/>
          </a:prstGeom>
          <a:noFill/>
          <a:ln/>
        </p:spPr>
        <p:txBody>
          <a:bodyPr wrap="square" lIns="0" tIns="0" rIns="0" bIns="0" rtlCol="0" anchor="ctr"/>
          <a:lstStyle/>
          <a:p>
            <a:pPr indent="0" marL="0">
              <a:buNone/>
            </a:pPr>
            <a:r>
              <a:rPr lang="en-US" sz="1600" b="1" dirty="0">
                <a:solidFill>
                  <a:schemeClr val="bg1"/>
                </a:solidFill>
              </a:rPr>
              <a:t>React</a:t>
            </a:r>
            <a:endParaRPr lang="en-US" sz="1600" dirty="0"/>
          </a:p>
        </p:txBody>
      </p:sp>
      <p:sp>
        <p:nvSpPr>
          <p:cNvPr id="26" name="Tech role"/>
          <p:cNvSpPr txBox="1"/>
          <p:nvPr/>
        </p:nvSpPr>
        <p:spPr>
          <a:xfrm>
            <a:off x="6949440" y="3346704"/>
            <a:ext cx="1645920" cy="420624"/>
          </a:xfrm>
          <a:prstGeom prst="rect">
            <a:avLst/>
          </a:prstGeom>
          <a:noFill/>
          <a:ln/>
        </p:spPr>
        <p:txBody>
          <a:bodyPr wrap="square" lIns="0" tIns="0" rIns="0" bIns="0" rtlCol="0" anchor="ctr"/>
          <a:lstStyle/>
          <a:p>
            <a:pPr indent="0" marL="0">
              <a:buNone/>
            </a:pPr>
            <a:r>
              <a:rPr lang="en-US" sz="1400" dirty="0">
                <a:solidFill>
                  <a:schemeClr val="bg2"/>
                </a:solidFill>
              </a:rPr>
              <a:t>User interface</a:t>
            </a:r>
            <a:endParaRPr lang="en-US" sz="1400" dirty="0"/>
          </a:p>
        </p:txBody>
      </p:sp>
      <p:sp>
        <p:nvSpPr>
          <p:cNvPr id="27" name="Letter circle"/>
          <p:cNvSpPr/>
          <p:nvPr/>
        </p:nvSpPr>
        <p:spPr>
          <a:xfrm>
            <a:off x="4937760" y="3877056"/>
            <a:ext cx="420624" cy="420624"/>
          </a:xfrm>
          <a:prstGeom prst="ellipse">
            <a:avLst/>
          </a:prstGeom>
          <a:solidFill>
            <a:schemeClr val="accent3"/>
          </a:solidFill>
          <a:ln/>
        </p:spPr>
      </p:sp>
      <p:sp>
        <p:nvSpPr>
          <p:cNvPr id="28" name="Letter"/>
          <p:cNvSpPr txBox="1"/>
          <p:nvPr/>
        </p:nvSpPr>
        <p:spPr>
          <a:xfrm>
            <a:off x="4937760" y="3877056"/>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N</a:t>
            </a:r>
            <a:endParaRPr lang="en-US" sz="1800" dirty="0"/>
          </a:p>
        </p:txBody>
      </p:sp>
      <p:sp>
        <p:nvSpPr>
          <p:cNvPr id="29" name="Tech"/>
          <p:cNvSpPr txBox="1"/>
          <p:nvPr/>
        </p:nvSpPr>
        <p:spPr>
          <a:xfrm>
            <a:off x="5532120" y="3877056"/>
            <a:ext cx="1463040" cy="420624"/>
          </a:xfrm>
          <a:prstGeom prst="rect">
            <a:avLst/>
          </a:prstGeom>
          <a:noFill/>
          <a:ln/>
        </p:spPr>
        <p:txBody>
          <a:bodyPr wrap="square" lIns="0" tIns="0" rIns="0" bIns="0" rtlCol="0" anchor="ctr"/>
          <a:lstStyle/>
          <a:p>
            <a:pPr indent="0" marL="0">
              <a:buNone/>
            </a:pPr>
            <a:r>
              <a:rPr lang="en-US" sz="1600" b="1" dirty="0">
                <a:solidFill>
                  <a:schemeClr val="bg1"/>
                </a:solidFill>
              </a:rPr>
              <a:t>Node.js</a:t>
            </a:r>
            <a:endParaRPr lang="en-US" sz="1600" dirty="0"/>
          </a:p>
        </p:txBody>
      </p:sp>
      <p:sp>
        <p:nvSpPr>
          <p:cNvPr id="30" name="Tech role"/>
          <p:cNvSpPr txBox="1"/>
          <p:nvPr/>
        </p:nvSpPr>
        <p:spPr>
          <a:xfrm>
            <a:off x="6949440" y="3877056"/>
            <a:ext cx="1645920" cy="420624"/>
          </a:xfrm>
          <a:prstGeom prst="rect">
            <a:avLst/>
          </a:prstGeom>
          <a:noFill/>
          <a:ln/>
        </p:spPr>
        <p:txBody>
          <a:bodyPr wrap="square" lIns="0" tIns="0" rIns="0" bIns="0" rtlCol="0" anchor="ctr"/>
          <a:lstStyle/>
          <a:p>
            <a:pPr indent="0" marL="0">
              <a:buNone/>
            </a:pPr>
            <a:r>
              <a:rPr lang="en-US" sz="1400" dirty="0">
                <a:solidFill>
                  <a:schemeClr val="bg2"/>
                </a:solidFill>
              </a:rPr>
              <a:t>Server runtime</a:t>
            </a:r>
            <a:endParaRPr lang="en-US" sz="14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Problem statement and objectives</a:t>
            </a:r>
            <a:endParaRPr lang="en-US" sz="3200" dirty="0"/>
          </a:p>
        </p:txBody>
      </p:sp>
      <p:sp>
        <p:nvSpPr>
          <p:cNvPr id="4" name="Problem card"/>
          <p:cNvSpPr/>
          <p:nvPr/>
        </p:nvSpPr>
        <p:spPr>
          <a:xfrm>
            <a:off x="457200" y="1097280"/>
            <a:ext cx="3977640" cy="3017520"/>
          </a:xfrm>
          <a:prstGeom prst="roundRect">
            <a:avLst>
              <a:gd name="adj" fmla="val 3030"/>
            </a:avLst>
          </a:prstGeom>
          <a:solidFill>
            <a:schemeClr val="accent4">
              <a:alpha val="12000"/>
            </a:schemeClr>
          </a:solidFill>
          <a:ln/>
        </p:spPr>
      </p:sp>
      <p:sp>
        <p:nvSpPr>
          <p:cNvPr id="5" name="Problem circle"/>
          <p:cNvSpPr/>
          <p:nvPr/>
        </p:nvSpPr>
        <p:spPr>
          <a:xfrm>
            <a:off x="640080" y="1261872"/>
            <a:ext cx="457200" cy="457200"/>
          </a:xfrm>
          <a:prstGeom prst="ellipse">
            <a:avLst/>
          </a:prstGeom>
          <a:solidFill>
            <a:srgbClr val="C4533B"/>
          </a:solidFill>
          <a:ln/>
        </p:spPr>
      </p:sp>
      <p:pic>
        <p:nvPicPr>
          <p:cNvPr id="6" name="Image 0" descr="Problem">    </p:cNvPr>
          <p:cNvPicPr>
            <a:picLocks noChangeAspect="1"/>
          </p:cNvPicPr>
          <p:nvPr/>
        </p:nvPicPr>
        <p:blipFill>
          <a:blip r:embed="rId1"/>
          <a:stretch>
            <a:fillRect/>
          </a:stretch>
        </p:blipFill>
        <p:spPr>
          <a:xfrm>
            <a:off x="758952" y="1380744"/>
            <a:ext cx="219456" cy="219456"/>
          </a:xfrm>
          <a:prstGeom prst="rect">
            <a:avLst/>
          </a:prstGeom>
        </p:spPr>
      </p:pic>
      <p:sp>
        <p:nvSpPr>
          <p:cNvPr id="7" name="Problem heading"/>
          <p:cNvSpPr txBox="1"/>
          <p:nvPr/>
        </p:nvSpPr>
        <p:spPr>
          <a:xfrm>
            <a:off x="1234440" y="1261872"/>
            <a:ext cx="2926080" cy="457200"/>
          </a:xfrm>
          <a:prstGeom prst="rect">
            <a:avLst/>
          </a:prstGeom>
          <a:noFill/>
          <a:ln/>
        </p:spPr>
        <p:txBody>
          <a:bodyPr wrap="square" lIns="0" tIns="0" rIns="0" bIns="0" rtlCol="0" anchor="ctr"/>
          <a:lstStyle/>
          <a:p>
            <a:pPr indent="0" marL="0">
              <a:buNone/>
            </a:pPr>
            <a:r>
              <a:rPr lang="en-US" sz="2000" b="1" dirty="0">
                <a:solidFill>
                  <a:schemeClr val="accent4"/>
                </a:solidFill>
              </a:rPr>
              <a:t>The problem</a:t>
            </a:r>
            <a:endParaRPr lang="en-US" sz="2000" dirty="0"/>
          </a:p>
        </p:txBody>
      </p:sp>
      <p:sp>
        <p:nvSpPr>
          <p:cNvPr id="8" name="Problem points"/>
          <p:cNvSpPr txBox="1"/>
          <p:nvPr/>
        </p:nvSpPr>
        <p:spPr>
          <a:xfrm>
            <a:off x="640080" y="1920240"/>
            <a:ext cx="3611880" cy="246888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Customers cannot browse the full catalog or order at any time</a:t>
            </a:r>
            <a:endParaRPr lang="en-US" sz="1500" dirty="0"/>
          </a:p>
          <a:p>
            <a:pPr marL="177800" indent="-177800">
              <a:spcAft>
                <a:spcPts val="1000"/>
              </a:spcAft>
              <a:buSzPct val="100000"/>
              <a:buChar char="•"/>
            </a:pPr>
            <a:r>
              <a:rPr lang="en-US" sz="1500" dirty="0">
                <a:solidFill>
                  <a:schemeClr val="tx1"/>
                </a:solidFill>
              </a:rPr>
              <a:t>The owner manages stock and orders by hand</a:t>
            </a:r>
            <a:endParaRPr lang="en-US" sz="1500" dirty="0"/>
          </a:p>
          <a:p>
            <a:pPr marL="177800" indent="-177800">
              <a:spcAft>
                <a:spcPts val="1000"/>
              </a:spcAft>
              <a:buSzPct val="100000"/>
              <a:buChar char="•"/>
            </a:pPr>
            <a:r>
              <a:rPr lang="en-US" sz="1500" dirty="0">
                <a:solidFill>
                  <a:schemeClr val="tx1"/>
                </a:solidFill>
              </a:rPr>
              <a:t>No confirmation or tracking after an order</a:t>
            </a:r>
            <a:endParaRPr lang="en-US" sz="1500" dirty="0"/>
          </a:p>
          <a:p>
            <a:pPr marL="177800" indent="-177800">
              <a:spcAft>
                <a:spcPts val="1000"/>
              </a:spcAft>
              <a:buSzPct val="100000"/>
              <a:buChar char="•"/>
            </a:pPr>
            <a:r>
              <a:rPr lang="en-US" sz="1500" dirty="0">
                <a:solidFill>
                  <a:schemeClr val="tx1"/>
                </a:solidFill>
              </a:rPr>
              <a:t>No central record of customers and orders</a:t>
            </a:r>
            <a:endParaRPr lang="en-US" sz="1500" dirty="0"/>
          </a:p>
        </p:txBody>
      </p:sp>
      <p:sp>
        <p:nvSpPr>
          <p:cNvPr id="9" name="Objectives card"/>
          <p:cNvSpPr/>
          <p:nvPr/>
        </p:nvSpPr>
        <p:spPr>
          <a:xfrm>
            <a:off x="4709160" y="1097280"/>
            <a:ext cx="3977640" cy="3017520"/>
          </a:xfrm>
          <a:prstGeom prst="roundRect">
            <a:avLst>
              <a:gd name="adj" fmla="val 3030"/>
            </a:avLst>
          </a:prstGeom>
          <a:solidFill>
            <a:schemeClr val="bg2"/>
          </a:solidFill>
          <a:ln/>
        </p:spPr>
      </p:sp>
      <p:sp>
        <p:nvSpPr>
          <p:cNvPr id="10" name="Objectives circle"/>
          <p:cNvSpPr/>
          <p:nvPr/>
        </p:nvSpPr>
        <p:spPr>
          <a:xfrm>
            <a:off x="4892040" y="1261872"/>
            <a:ext cx="457200" cy="457200"/>
          </a:xfrm>
          <a:prstGeom prst="ellipse">
            <a:avLst/>
          </a:prstGeom>
          <a:solidFill>
            <a:srgbClr val="2F8F6B"/>
          </a:solidFill>
          <a:ln/>
        </p:spPr>
      </p:sp>
      <p:pic>
        <p:nvPicPr>
          <p:cNvPr id="11" name="Image 1" descr="Objectives">    </p:cNvPr>
          <p:cNvPicPr>
            <a:picLocks noChangeAspect="1"/>
          </p:cNvPicPr>
          <p:nvPr/>
        </p:nvPicPr>
        <p:blipFill>
          <a:blip r:embed="rId2"/>
          <a:stretch>
            <a:fillRect/>
          </a:stretch>
        </p:blipFill>
        <p:spPr>
          <a:xfrm>
            <a:off x="5010912" y="1380744"/>
            <a:ext cx="219456" cy="219456"/>
          </a:xfrm>
          <a:prstGeom prst="rect">
            <a:avLst/>
          </a:prstGeom>
        </p:spPr>
      </p:pic>
      <p:sp>
        <p:nvSpPr>
          <p:cNvPr id="12" name="Objectives heading"/>
          <p:cNvSpPr txBox="1"/>
          <p:nvPr/>
        </p:nvSpPr>
        <p:spPr>
          <a:xfrm>
            <a:off x="5486400" y="1261872"/>
            <a:ext cx="3017520" cy="457200"/>
          </a:xfrm>
          <a:prstGeom prst="rect">
            <a:avLst/>
          </a:prstGeom>
          <a:noFill/>
          <a:ln/>
        </p:spPr>
        <p:txBody>
          <a:bodyPr wrap="square" lIns="0" tIns="0" rIns="0" bIns="0" rtlCol="0" anchor="ctr"/>
          <a:lstStyle/>
          <a:p>
            <a:pPr indent="0" marL="0">
              <a:buNone/>
            </a:pPr>
            <a:r>
              <a:rPr lang="en-US" sz="2000" b="1" dirty="0">
                <a:solidFill>
                  <a:schemeClr val="accent2"/>
                </a:solidFill>
              </a:rPr>
              <a:t>Objectives</a:t>
            </a:r>
            <a:endParaRPr lang="en-US" sz="2000" dirty="0"/>
          </a:p>
        </p:txBody>
      </p:sp>
      <p:sp>
        <p:nvSpPr>
          <p:cNvPr id="13" name="Objective points"/>
          <p:cNvSpPr txBox="1"/>
          <p:nvPr/>
        </p:nvSpPr>
        <p:spPr>
          <a:xfrm>
            <a:off x="4892040" y="1920240"/>
            <a:ext cx="3611880" cy="246888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tx1"/>
                </a:solidFill>
              </a:rPr>
              <a:t>Build a full-stack MERN online store with admin dashboard</a:t>
            </a:r>
            <a:endParaRPr lang="en-US" sz="1500" dirty="0"/>
          </a:p>
          <a:p>
            <a:pPr marL="177800" indent="-177800">
              <a:spcAft>
                <a:spcPts val="1000"/>
              </a:spcAft>
              <a:buSzPct val="100000"/>
              <a:buChar char="•"/>
            </a:pPr>
            <a:r>
              <a:rPr lang="en-US" sz="1500" dirty="0">
                <a:solidFill>
                  <a:schemeClr val="tx1"/>
                </a:solidFill>
              </a:rPr>
              <a:t>Add order tracking and email updates</a:t>
            </a:r>
            <a:endParaRPr lang="en-US" sz="1500" dirty="0"/>
          </a:p>
          <a:p>
            <a:pPr marL="177800" indent="-177800">
              <a:spcAft>
                <a:spcPts val="1000"/>
              </a:spcAft>
              <a:buSzPct val="100000"/>
              <a:buChar char="•"/>
            </a:pPr>
            <a:r>
              <a:rPr lang="en-US" sz="1500" dirty="0">
                <a:solidFill>
                  <a:schemeClr val="tx1"/>
                </a:solidFill>
              </a:rPr>
              <a:t>Learn React, Node.js, Express.js and MongoDB</a:t>
            </a:r>
            <a:endParaRPr lang="en-US" sz="1500" dirty="0"/>
          </a:p>
          <a:p>
            <a:pPr marL="177800" indent="-177800">
              <a:spcAft>
                <a:spcPts val="1000"/>
              </a:spcAft>
              <a:buSzPct val="100000"/>
              <a:buChar char="•"/>
            </a:pPr>
            <a:r>
              <a:rPr lang="en-US" sz="1500" dirty="0">
                <a:solidFill>
                  <a:schemeClr val="tx1"/>
                </a:solidFill>
              </a:rPr>
              <a:t>Build REST APIs and deploy the application</a:t>
            </a:r>
            <a:endParaRPr lang="en-US" sz="1500" dirty="0"/>
          </a:p>
        </p:txBody>
      </p:sp>
      <p:sp>
        <p:nvSpPr>
          <p:cNvPr id="14" name="Solution circle"/>
          <p:cNvSpPr/>
          <p:nvPr/>
        </p:nvSpPr>
        <p:spPr>
          <a:xfrm>
            <a:off x="4343400" y="2377440"/>
            <a:ext cx="457200" cy="457200"/>
          </a:xfrm>
          <a:prstGeom prst="ellipse">
            <a:avLst/>
          </a:prstGeom>
          <a:solidFill>
            <a:srgbClr val="1F4D3A"/>
          </a:solidFill>
          <a:ln/>
        </p:spPr>
      </p:sp>
      <p:pic>
        <p:nvPicPr>
          <p:cNvPr id="15" name="Image 2" descr="Solution">    </p:cNvPr>
          <p:cNvPicPr>
            <a:picLocks noChangeAspect="1"/>
          </p:cNvPicPr>
          <p:nvPr/>
        </p:nvPicPr>
        <p:blipFill>
          <a:blip r:embed="rId3"/>
          <a:stretch>
            <a:fillRect/>
          </a:stretch>
        </p:blipFill>
        <p:spPr>
          <a:xfrm>
            <a:off x="4462272" y="2496312"/>
            <a:ext cx="219456" cy="219456"/>
          </a:xfrm>
          <a:prstGeom prst="rect">
            <a:avLst/>
          </a:prstGeom>
        </p:spPr>
      </p:pic>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System architecture and workflow</a:t>
            </a:r>
            <a:endParaRPr lang="en-US" sz="3200" dirty="0"/>
          </a:p>
        </p:txBody>
      </p:sp>
      <p:sp>
        <p:nvSpPr>
          <p:cNvPr id="4" name="Users"/>
          <p:cNvSpPr/>
          <p:nvPr/>
        </p:nvSpPr>
        <p:spPr>
          <a:xfrm>
            <a:off x="457200" y="1024128"/>
            <a:ext cx="5120640" cy="347472"/>
          </a:xfrm>
          <a:prstGeom prst="roundRect">
            <a:avLst>
              <a:gd name="adj" fmla="val 26316"/>
            </a:avLst>
          </a:prstGeom>
          <a:solidFill>
            <a:schemeClr val="tx2"/>
          </a:solidFill>
          <a:ln/>
        </p:spPr>
      </p:sp>
      <p:sp>
        <p:nvSpPr>
          <p:cNvPr id="5" name="Users text"/>
          <p:cNvSpPr txBox="1"/>
          <p:nvPr/>
        </p:nvSpPr>
        <p:spPr>
          <a:xfrm>
            <a:off x="457200" y="1024128"/>
            <a:ext cx="5120640" cy="347472"/>
          </a:xfrm>
          <a:prstGeom prst="rect">
            <a:avLst/>
          </a:prstGeom>
          <a:noFill/>
          <a:ln/>
        </p:spPr>
        <p:txBody>
          <a:bodyPr wrap="square" lIns="0" tIns="0" rIns="0" bIns="0" rtlCol="0" anchor="ctr"/>
          <a:lstStyle/>
          <a:p>
            <a:pPr algn="ctr" indent="0" marL="0">
              <a:buNone/>
            </a:pPr>
            <a:r>
              <a:rPr lang="en-US" sz="1300" b="1" dirty="0">
                <a:solidFill>
                  <a:schemeClr val="bg1"/>
                </a:solidFill>
              </a:rPr>
              <a:t>Visitor  |  Customer  |  Administrator</a:t>
            </a:r>
            <a:endParaRPr lang="en-US" sz="1300" dirty="0"/>
          </a:p>
        </p:txBody>
      </p:sp>
      <p:sp>
        <p:nvSpPr>
          <p:cNvPr id="6" name="REACT CLIENT (Vite), on Vercel"/>
          <p:cNvSpPr/>
          <p:nvPr/>
        </p:nvSpPr>
        <p:spPr>
          <a:xfrm>
            <a:off x="457200" y="1463040"/>
            <a:ext cx="5120640" cy="786384"/>
          </a:xfrm>
          <a:prstGeom prst="roundRect">
            <a:avLst>
              <a:gd name="adj" fmla="val 11628"/>
            </a:avLst>
          </a:prstGeom>
          <a:solidFill>
            <a:schemeClr val="accent5">
              <a:alpha val="20000"/>
            </a:schemeClr>
          </a:solidFill>
          <a:ln/>
        </p:spPr>
      </p:sp>
      <p:sp>
        <p:nvSpPr>
          <p:cNvPr id="7" name="REACT CLIENT (Vite), on Vercel label"/>
          <p:cNvSpPr txBox="1"/>
          <p:nvPr/>
        </p:nvSpPr>
        <p:spPr>
          <a:xfrm>
            <a:off x="594360" y="1508760"/>
            <a:ext cx="4846320" cy="237744"/>
          </a:xfrm>
          <a:prstGeom prst="rect">
            <a:avLst/>
          </a:prstGeom>
          <a:noFill/>
          <a:ln/>
        </p:spPr>
        <p:txBody>
          <a:bodyPr wrap="square" lIns="0" tIns="0" rIns="0" bIns="0" rtlCol="0" anchor="ctr"/>
          <a:lstStyle/>
          <a:p>
            <a:pPr indent="0" marL="0">
              <a:buNone/>
            </a:pPr>
            <a:r>
              <a:rPr lang="en-US" sz="1200" b="1" dirty="0">
                <a:solidFill>
                  <a:schemeClr val="tx2"/>
                </a:solidFill>
              </a:rPr>
              <a:t>REACT CLIENT (Vite), on Vercel</a:t>
            </a:r>
            <a:endParaRPr lang="en-US" sz="1200" dirty="0"/>
          </a:p>
        </p:txBody>
      </p:sp>
      <p:sp>
        <p:nvSpPr>
          <p:cNvPr id="8" name="Chip"/>
          <p:cNvSpPr/>
          <p:nvPr/>
        </p:nvSpPr>
        <p:spPr>
          <a:xfrm>
            <a:off x="594360" y="1792224"/>
            <a:ext cx="910742" cy="365760"/>
          </a:xfrm>
          <a:prstGeom prst="roundRect">
            <a:avLst>
              <a:gd name="adj" fmla="val 20000"/>
            </a:avLst>
          </a:prstGeom>
          <a:solidFill>
            <a:schemeClr val="bg1"/>
          </a:solidFill>
          <a:ln/>
        </p:spPr>
      </p:sp>
      <p:sp>
        <p:nvSpPr>
          <p:cNvPr id="9" name="Chip text"/>
          <p:cNvSpPr txBox="1"/>
          <p:nvPr/>
        </p:nvSpPr>
        <p:spPr>
          <a:xfrm>
            <a:off x="594360" y="1792224"/>
            <a:ext cx="910742" cy="365760"/>
          </a:xfrm>
          <a:prstGeom prst="rect">
            <a:avLst/>
          </a:prstGeom>
          <a:noFill/>
          <a:ln/>
        </p:spPr>
        <p:txBody>
          <a:bodyPr wrap="square" lIns="0" tIns="0" rIns="0" bIns="0" rtlCol="0" anchor="ctr"/>
          <a:lstStyle/>
          <a:p>
            <a:pPr algn="ctr" indent="0" marL="0">
              <a:buNone/>
            </a:pPr>
            <a:r>
              <a:rPr lang="en-US" sz="1100" b="1" dirty="0">
                <a:solidFill>
                  <a:schemeClr val="tx2"/>
                </a:solidFill>
              </a:rPr>
              <a:t>Store</a:t>
            </a:r>
            <a:endParaRPr lang="en-US" sz="1100" dirty="0"/>
          </a:p>
        </p:txBody>
      </p:sp>
      <p:sp>
        <p:nvSpPr>
          <p:cNvPr id="10" name="Chip"/>
          <p:cNvSpPr/>
          <p:nvPr/>
        </p:nvSpPr>
        <p:spPr>
          <a:xfrm>
            <a:off x="1578254" y="1792224"/>
            <a:ext cx="910742" cy="365760"/>
          </a:xfrm>
          <a:prstGeom prst="roundRect">
            <a:avLst>
              <a:gd name="adj" fmla="val 20000"/>
            </a:avLst>
          </a:prstGeom>
          <a:solidFill>
            <a:schemeClr val="bg1"/>
          </a:solidFill>
          <a:ln/>
        </p:spPr>
      </p:sp>
      <p:sp>
        <p:nvSpPr>
          <p:cNvPr id="11" name="Chip text"/>
          <p:cNvSpPr txBox="1"/>
          <p:nvPr/>
        </p:nvSpPr>
        <p:spPr>
          <a:xfrm>
            <a:off x="1578254" y="1792224"/>
            <a:ext cx="910742" cy="365760"/>
          </a:xfrm>
          <a:prstGeom prst="rect">
            <a:avLst/>
          </a:prstGeom>
          <a:noFill/>
          <a:ln/>
        </p:spPr>
        <p:txBody>
          <a:bodyPr wrap="square" lIns="0" tIns="0" rIns="0" bIns="0" rtlCol="0" anchor="ctr"/>
          <a:lstStyle/>
          <a:p>
            <a:pPr algn="ctr" indent="0" marL="0">
              <a:buNone/>
            </a:pPr>
            <a:r>
              <a:rPr lang="en-US" sz="1100" b="1" dirty="0">
                <a:solidFill>
                  <a:schemeClr val="tx2"/>
                </a:solidFill>
              </a:rPr>
              <a:t>Cart</a:t>
            </a:r>
            <a:endParaRPr lang="en-US" sz="1100" dirty="0"/>
          </a:p>
        </p:txBody>
      </p:sp>
      <p:sp>
        <p:nvSpPr>
          <p:cNvPr id="12" name="Chip"/>
          <p:cNvSpPr/>
          <p:nvPr/>
        </p:nvSpPr>
        <p:spPr>
          <a:xfrm>
            <a:off x="2562149" y="1792224"/>
            <a:ext cx="910742" cy="365760"/>
          </a:xfrm>
          <a:prstGeom prst="roundRect">
            <a:avLst>
              <a:gd name="adj" fmla="val 20000"/>
            </a:avLst>
          </a:prstGeom>
          <a:solidFill>
            <a:schemeClr val="bg1"/>
          </a:solidFill>
          <a:ln/>
        </p:spPr>
      </p:sp>
      <p:sp>
        <p:nvSpPr>
          <p:cNvPr id="13" name="Chip text"/>
          <p:cNvSpPr txBox="1"/>
          <p:nvPr/>
        </p:nvSpPr>
        <p:spPr>
          <a:xfrm>
            <a:off x="2562149" y="1792224"/>
            <a:ext cx="910742" cy="365760"/>
          </a:xfrm>
          <a:prstGeom prst="rect">
            <a:avLst/>
          </a:prstGeom>
          <a:noFill/>
          <a:ln/>
        </p:spPr>
        <p:txBody>
          <a:bodyPr wrap="square" lIns="0" tIns="0" rIns="0" bIns="0" rtlCol="0" anchor="ctr"/>
          <a:lstStyle/>
          <a:p>
            <a:pPr algn="ctr" indent="0" marL="0">
              <a:buNone/>
            </a:pPr>
            <a:r>
              <a:rPr lang="en-US" sz="1100" b="1" dirty="0">
                <a:solidFill>
                  <a:schemeClr val="tx2"/>
                </a:solidFill>
              </a:rPr>
              <a:t>Account</a:t>
            </a:r>
            <a:endParaRPr lang="en-US" sz="1100" dirty="0"/>
          </a:p>
        </p:txBody>
      </p:sp>
      <p:sp>
        <p:nvSpPr>
          <p:cNvPr id="14" name="Chip"/>
          <p:cNvSpPr/>
          <p:nvPr/>
        </p:nvSpPr>
        <p:spPr>
          <a:xfrm>
            <a:off x="3546043" y="1792224"/>
            <a:ext cx="910742" cy="365760"/>
          </a:xfrm>
          <a:prstGeom prst="roundRect">
            <a:avLst>
              <a:gd name="adj" fmla="val 20000"/>
            </a:avLst>
          </a:prstGeom>
          <a:solidFill>
            <a:schemeClr val="bg1"/>
          </a:solidFill>
          <a:ln/>
        </p:spPr>
      </p:sp>
      <p:sp>
        <p:nvSpPr>
          <p:cNvPr id="15" name="Chip text"/>
          <p:cNvSpPr txBox="1"/>
          <p:nvPr/>
        </p:nvSpPr>
        <p:spPr>
          <a:xfrm>
            <a:off x="3546043" y="1792224"/>
            <a:ext cx="910742" cy="365760"/>
          </a:xfrm>
          <a:prstGeom prst="rect">
            <a:avLst/>
          </a:prstGeom>
          <a:noFill/>
          <a:ln/>
        </p:spPr>
        <p:txBody>
          <a:bodyPr wrap="square" lIns="0" tIns="0" rIns="0" bIns="0" rtlCol="0" anchor="ctr"/>
          <a:lstStyle/>
          <a:p>
            <a:pPr algn="ctr" indent="0" marL="0">
              <a:buNone/>
            </a:pPr>
            <a:r>
              <a:rPr lang="en-US" sz="1100" b="1" dirty="0">
                <a:solidFill>
                  <a:schemeClr val="tx2"/>
                </a:solidFill>
              </a:rPr>
              <a:t>Orders</a:t>
            </a:r>
            <a:endParaRPr lang="en-US" sz="1100" dirty="0"/>
          </a:p>
        </p:txBody>
      </p:sp>
      <p:sp>
        <p:nvSpPr>
          <p:cNvPr id="16" name="Chip"/>
          <p:cNvSpPr/>
          <p:nvPr/>
        </p:nvSpPr>
        <p:spPr>
          <a:xfrm>
            <a:off x="4529938" y="1792224"/>
            <a:ext cx="910742" cy="365760"/>
          </a:xfrm>
          <a:prstGeom prst="roundRect">
            <a:avLst>
              <a:gd name="adj" fmla="val 20000"/>
            </a:avLst>
          </a:prstGeom>
          <a:solidFill>
            <a:schemeClr val="bg1"/>
          </a:solidFill>
          <a:ln/>
        </p:spPr>
      </p:sp>
      <p:sp>
        <p:nvSpPr>
          <p:cNvPr id="17" name="Chip text"/>
          <p:cNvSpPr txBox="1"/>
          <p:nvPr/>
        </p:nvSpPr>
        <p:spPr>
          <a:xfrm>
            <a:off x="4529938" y="1792224"/>
            <a:ext cx="910742" cy="365760"/>
          </a:xfrm>
          <a:prstGeom prst="rect">
            <a:avLst/>
          </a:prstGeom>
          <a:noFill/>
          <a:ln/>
        </p:spPr>
        <p:txBody>
          <a:bodyPr wrap="square" lIns="0" tIns="0" rIns="0" bIns="0" rtlCol="0" anchor="ctr"/>
          <a:lstStyle/>
          <a:p>
            <a:pPr algn="ctr" indent="0" marL="0">
              <a:buNone/>
            </a:pPr>
            <a:r>
              <a:rPr lang="en-US" sz="1100" b="1" dirty="0">
                <a:solidFill>
                  <a:schemeClr val="tx2"/>
                </a:solidFill>
              </a:rPr>
              <a:t>Admin</a:t>
            </a:r>
            <a:endParaRPr lang="en-US" sz="1100" dirty="0"/>
          </a:p>
        </p:txBody>
      </p:sp>
      <p:sp>
        <p:nvSpPr>
          <p:cNvPr id="18" name="API label"/>
          <p:cNvSpPr txBox="1"/>
          <p:nvPr/>
        </p:nvSpPr>
        <p:spPr>
          <a:xfrm>
            <a:off x="457200" y="2286000"/>
            <a:ext cx="5120640" cy="256032"/>
          </a:xfrm>
          <a:prstGeom prst="rect">
            <a:avLst/>
          </a:prstGeom>
          <a:noFill/>
          <a:ln/>
        </p:spPr>
        <p:txBody>
          <a:bodyPr wrap="square" lIns="0" tIns="0" rIns="0" bIns="0" rtlCol="0" anchor="ctr"/>
          <a:lstStyle/>
          <a:p>
            <a:pPr algn="ctr" indent="0" marL="0">
              <a:buNone/>
            </a:pPr>
            <a:r>
              <a:rPr lang="en-US" sz="1200" b="1" dirty="0">
                <a:solidFill>
                  <a:schemeClr val="tx2"/>
                </a:solidFill>
              </a:rPr>
              <a:t>REST API: HTTP request / JSON response</a:t>
            </a:r>
            <a:endParaRPr lang="en-US" sz="1200" dirty="0"/>
          </a:p>
        </p:txBody>
      </p:sp>
      <p:sp>
        <p:nvSpPr>
          <p:cNvPr id="19" name="EXPRESS.JS SERVER (Node.js)"/>
          <p:cNvSpPr/>
          <p:nvPr/>
        </p:nvSpPr>
        <p:spPr>
          <a:xfrm>
            <a:off x="457200" y="2578608"/>
            <a:ext cx="5120640" cy="786384"/>
          </a:xfrm>
          <a:prstGeom prst="roundRect">
            <a:avLst>
              <a:gd name="adj" fmla="val 11628"/>
            </a:avLst>
          </a:prstGeom>
          <a:solidFill>
            <a:schemeClr val="accent2">
              <a:alpha val="20000"/>
            </a:schemeClr>
          </a:solidFill>
          <a:ln/>
        </p:spPr>
      </p:sp>
      <p:sp>
        <p:nvSpPr>
          <p:cNvPr id="20" name="EXPRESS.JS SERVER (Node.js) label"/>
          <p:cNvSpPr txBox="1"/>
          <p:nvPr/>
        </p:nvSpPr>
        <p:spPr>
          <a:xfrm>
            <a:off x="594360" y="2624328"/>
            <a:ext cx="4846320" cy="237744"/>
          </a:xfrm>
          <a:prstGeom prst="rect">
            <a:avLst/>
          </a:prstGeom>
          <a:noFill/>
          <a:ln/>
        </p:spPr>
        <p:txBody>
          <a:bodyPr wrap="square" lIns="0" tIns="0" rIns="0" bIns="0" rtlCol="0" anchor="ctr"/>
          <a:lstStyle/>
          <a:p>
            <a:pPr indent="0" marL="0">
              <a:buNone/>
            </a:pPr>
            <a:r>
              <a:rPr lang="en-US" sz="1200" b="1" dirty="0">
                <a:solidFill>
                  <a:schemeClr val="tx2"/>
                </a:solidFill>
              </a:rPr>
              <a:t>EXPRESS.JS SERVER (Node.js)</a:t>
            </a:r>
            <a:endParaRPr lang="en-US" sz="1200" dirty="0"/>
          </a:p>
        </p:txBody>
      </p:sp>
      <p:sp>
        <p:nvSpPr>
          <p:cNvPr id="21" name="Chip"/>
          <p:cNvSpPr/>
          <p:nvPr/>
        </p:nvSpPr>
        <p:spPr>
          <a:xfrm>
            <a:off x="594360" y="2907792"/>
            <a:ext cx="910742" cy="365760"/>
          </a:xfrm>
          <a:prstGeom prst="roundRect">
            <a:avLst>
              <a:gd name="adj" fmla="val 20000"/>
            </a:avLst>
          </a:prstGeom>
          <a:solidFill>
            <a:schemeClr val="bg1"/>
          </a:solidFill>
          <a:ln/>
        </p:spPr>
      </p:sp>
      <p:sp>
        <p:nvSpPr>
          <p:cNvPr id="22" name="Chip text"/>
          <p:cNvSpPr txBox="1"/>
          <p:nvPr/>
        </p:nvSpPr>
        <p:spPr>
          <a:xfrm>
            <a:off x="594360" y="2907792"/>
            <a:ext cx="910742" cy="365760"/>
          </a:xfrm>
          <a:prstGeom prst="rect">
            <a:avLst/>
          </a:prstGeom>
          <a:noFill/>
          <a:ln/>
        </p:spPr>
        <p:txBody>
          <a:bodyPr wrap="square" lIns="0" tIns="0" rIns="0" bIns="0" rtlCol="0" anchor="ctr"/>
          <a:lstStyle/>
          <a:p>
            <a:pPr algn="ctr" indent="0" marL="0">
              <a:buNone/>
            </a:pPr>
            <a:r>
              <a:rPr lang="en-US" sz="1100" b="1" dirty="0">
                <a:solidFill>
                  <a:schemeClr val="tx2"/>
                </a:solidFill>
              </a:rPr>
              <a:t>Products</a:t>
            </a:r>
            <a:endParaRPr lang="en-US" sz="1100" dirty="0"/>
          </a:p>
        </p:txBody>
      </p:sp>
      <p:sp>
        <p:nvSpPr>
          <p:cNvPr id="23" name="Chip"/>
          <p:cNvSpPr/>
          <p:nvPr/>
        </p:nvSpPr>
        <p:spPr>
          <a:xfrm>
            <a:off x="1578254" y="2907792"/>
            <a:ext cx="910742" cy="365760"/>
          </a:xfrm>
          <a:prstGeom prst="roundRect">
            <a:avLst>
              <a:gd name="adj" fmla="val 20000"/>
            </a:avLst>
          </a:prstGeom>
          <a:solidFill>
            <a:schemeClr val="bg1"/>
          </a:solidFill>
          <a:ln/>
        </p:spPr>
      </p:sp>
      <p:sp>
        <p:nvSpPr>
          <p:cNvPr id="24" name="Chip text"/>
          <p:cNvSpPr txBox="1"/>
          <p:nvPr/>
        </p:nvSpPr>
        <p:spPr>
          <a:xfrm>
            <a:off x="1578254" y="2907792"/>
            <a:ext cx="910742" cy="365760"/>
          </a:xfrm>
          <a:prstGeom prst="rect">
            <a:avLst/>
          </a:prstGeom>
          <a:noFill/>
          <a:ln/>
        </p:spPr>
        <p:txBody>
          <a:bodyPr wrap="square" lIns="0" tIns="0" rIns="0" bIns="0" rtlCol="0" anchor="ctr"/>
          <a:lstStyle/>
          <a:p>
            <a:pPr algn="ctr" indent="0" marL="0">
              <a:buNone/>
            </a:pPr>
            <a:r>
              <a:rPr lang="en-US" sz="1100" b="1" dirty="0">
                <a:solidFill>
                  <a:schemeClr val="tx2"/>
                </a:solidFill>
              </a:rPr>
              <a:t>Orders</a:t>
            </a:r>
            <a:endParaRPr lang="en-US" sz="1100" dirty="0"/>
          </a:p>
        </p:txBody>
      </p:sp>
      <p:sp>
        <p:nvSpPr>
          <p:cNvPr id="25" name="Chip"/>
          <p:cNvSpPr/>
          <p:nvPr/>
        </p:nvSpPr>
        <p:spPr>
          <a:xfrm>
            <a:off x="2562149" y="2907792"/>
            <a:ext cx="910742" cy="365760"/>
          </a:xfrm>
          <a:prstGeom prst="roundRect">
            <a:avLst>
              <a:gd name="adj" fmla="val 20000"/>
            </a:avLst>
          </a:prstGeom>
          <a:solidFill>
            <a:schemeClr val="bg1"/>
          </a:solidFill>
          <a:ln/>
        </p:spPr>
      </p:sp>
      <p:sp>
        <p:nvSpPr>
          <p:cNvPr id="26" name="Chip text"/>
          <p:cNvSpPr txBox="1"/>
          <p:nvPr/>
        </p:nvSpPr>
        <p:spPr>
          <a:xfrm>
            <a:off x="2562149" y="2907792"/>
            <a:ext cx="910742" cy="365760"/>
          </a:xfrm>
          <a:prstGeom prst="rect">
            <a:avLst/>
          </a:prstGeom>
          <a:noFill/>
          <a:ln/>
        </p:spPr>
        <p:txBody>
          <a:bodyPr wrap="square" lIns="0" tIns="0" rIns="0" bIns="0" rtlCol="0" anchor="ctr"/>
          <a:lstStyle/>
          <a:p>
            <a:pPr algn="ctr" indent="0" marL="0">
              <a:buNone/>
            </a:pPr>
            <a:r>
              <a:rPr lang="en-US" sz="1100" b="1" dirty="0">
                <a:solidFill>
                  <a:schemeClr val="tx2"/>
                </a:solidFill>
              </a:rPr>
              <a:t>Auth (JWT)</a:t>
            </a:r>
            <a:endParaRPr lang="en-US" sz="1100" dirty="0"/>
          </a:p>
        </p:txBody>
      </p:sp>
      <p:sp>
        <p:nvSpPr>
          <p:cNvPr id="27" name="Chip"/>
          <p:cNvSpPr/>
          <p:nvPr/>
        </p:nvSpPr>
        <p:spPr>
          <a:xfrm>
            <a:off x="3546043" y="2907792"/>
            <a:ext cx="910742" cy="365760"/>
          </a:xfrm>
          <a:prstGeom prst="roundRect">
            <a:avLst>
              <a:gd name="adj" fmla="val 20000"/>
            </a:avLst>
          </a:prstGeom>
          <a:solidFill>
            <a:schemeClr val="bg1"/>
          </a:solidFill>
          <a:ln/>
        </p:spPr>
      </p:sp>
      <p:sp>
        <p:nvSpPr>
          <p:cNvPr id="28" name="Chip text"/>
          <p:cNvSpPr txBox="1"/>
          <p:nvPr/>
        </p:nvSpPr>
        <p:spPr>
          <a:xfrm>
            <a:off x="3546043" y="2907792"/>
            <a:ext cx="910742" cy="365760"/>
          </a:xfrm>
          <a:prstGeom prst="rect">
            <a:avLst/>
          </a:prstGeom>
          <a:noFill/>
          <a:ln/>
        </p:spPr>
        <p:txBody>
          <a:bodyPr wrap="square" lIns="0" tIns="0" rIns="0" bIns="0" rtlCol="0" anchor="ctr"/>
          <a:lstStyle/>
          <a:p>
            <a:pPr algn="ctr" indent="0" marL="0">
              <a:buNone/>
            </a:pPr>
            <a:r>
              <a:rPr lang="en-US" sz="1100" b="1" dirty="0">
                <a:solidFill>
                  <a:schemeClr val="tx2"/>
                </a:solidFill>
              </a:rPr>
              <a:t>Admin</a:t>
            </a:r>
            <a:endParaRPr lang="en-US" sz="1100" dirty="0"/>
          </a:p>
        </p:txBody>
      </p:sp>
      <p:sp>
        <p:nvSpPr>
          <p:cNvPr id="29" name="Chip"/>
          <p:cNvSpPr/>
          <p:nvPr/>
        </p:nvSpPr>
        <p:spPr>
          <a:xfrm>
            <a:off x="4529938" y="2907792"/>
            <a:ext cx="910742" cy="365760"/>
          </a:xfrm>
          <a:prstGeom prst="roundRect">
            <a:avLst>
              <a:gd name="adj" fmla="val 20000"/>
            </a:avLst>
          </a:prstGeom>
          <a:solidFill>
            <a:schemeClr val="bg1"/>
          </a:solidFill>
          <a:ln/>
        </p:spPr>
      </p:sp>
      <p:sp>
        <p:nvSpPr>
          <p:cNvPr id="30" name="Chip text"/>
          <p:cNvSpPr txBox="1"/>
          <p:nvPr/>
        </p:nvSpPr>
        <p:spPr>
          <a:xfrm>
            <a:off x="4529938" y="2907792"/>
            <a:ext cx="910742" cy="365760"/>
          </a:xfrm>
          <a:prstGeom prst="rect">
            <a:avLst/>
          </a:prstGeom>
          <a:noFill/>
          <a:ln/>
        </p:spPr>
        <p:txBody>
          <a:bodyPr wrap="square" lIns="0" tIns="0" rIns="0" bIns="0" rtlCol="0" anchor="ctr"/>
          <a:lstStyle/>
          <a:p>
            <a:pPr algn="ctr" indent="0" marL="0">
              <a:buNone/>
            </a:pPr>
            <a:r>
              <a:rPr lang="en-US" sz="1100" b="1" dirty="0">
                <a:solidFill>
                  <a:schemeClr val="tx2"/>
                </a:solidFill>
              </a:rPr>
              <a:t>Middleware</a:t>
            </a:r>
            <a:endParaRPr lang="en-US" sz="1100" dirty="0"/>
          </a:p>
        </p:txBody>
      </p:sp>
      <p:sp>
        <p:nvSpPr>
          <p:cNvPr id="31" name="Mongoose label"/>
          <p:cNvSpPr txBox="1"/>
          <p:nvPr/>
        </p:nvSpPr>
        <p:spPr>
          <a:xfrm>
            <a:off x="457200" y="3401568"/>
            <a:ext cx="5120640" cy="256032"/>
          </a:xfrm>
          <a:prstGeom prst="rect">
            <a:avLst/>
          </a:prstGeom>
          <a:noFill/>
          <a:ln/>
        </p:spPr>
        <p:txBody>
          <a:bodyPr wrap="square" lIns="0" tIns="0" rIns="0" bIns="0" rtlCol="0" anchor="ctr"/>
          <a:lstStyle/>
          <a:p>
            <a:pPr algn="ctr" indent="0" marL="0">
              <a:buNone/>
            </a:pPr>
            <a:r>
              <a:rPr lang="en-US" sz="1200" b="1" dirty="0">
                <a:solidFill>
                  <a:schemeClr val="tx2"/>
                </a:solidFill>
              </a:rPr>
              <a:t>MONGOOSE: models and validation</a:t>
            </a:r>
            <a:endParaRPr lang="en-US" sz="1200" dirty="0"/>
          </a:p>
        </p:txBody>
      </p:sp>
      <p:sp>
        <p:nvSpPr>
          <p:cNvPr id="32" name="MONGODB DATABASE"/>
          <p:cNvSpPr/>
          <p:nvPr/>
        </p:nvSpPr>
        <p:spPr>
          <a:xfrm>
            <a:off x="457200" y="3694176"/>
            <a:ext cx="5120640" cy="786384"/>
          </a:xfrm>
          <a:prstGeom prst="roundRect">
            <a:avLst>
              <a:gd name="adj" fmla="val 11628"/>
            </a:avLst>
          </a:prstGeom>
          <a:solidFill>
            <a:schemeClr val="accent3">
              <a:alpha val="20000"/>
            </a:schemeClr>
          </a:solidFill>
          <a:ln/>
        </p:spPr>
      </p:sp>
      <p:sp>
        <p:nvSpPr>
          <p:cNvPr id="33" name="MONGODB DATABASE label"/>
          <p:cNvSpPr txBox="1"/>
          <p:nvPr/>
        </p:nvSpPr>
        <p:spPr>
          <a:xfrm>
            <a:off x="594360" y="3739896"/>
            <a:ext cx="4846320" cy="237744"/>
          </a:xfrm>
          <a:prstGeom prst="rect">
            <a:avLst/>
          </a:prstGeom>
          <a:noFill/>
          <a:ln/>
        </p:spPr>
        <p:txBody>
          <a:bodyPr wrap="square" lIns="0" tIns="0" rIns="0" bIns="0" rtlCol="0" anchor="ctr"/>
          <a:lstStyle/>
          <a:p>
            <a:pPr indent="0" marL="0">
              <a:buNone/>
            </a:pPr>
            <a:r>
              <a:rPr lang="en-US" sz="1200" b="1" dirty="0">
                <a:solidFill>
                  <a:schemeClr val="tx2"/>
                </a:solidFill>
              </a:rPr>
              <a:t>MONGODB DATABASE</a:t>
            </a:r>
            <a:endParaRPr lang="en-US" sz="1200" dirty="0"/>
          </a:p>
        </p:txBody>
      </p:sp>
      <p:sp>
        <p:nvSpPr>
          <p:cNvPr id="34" name="Chip"/>
          <p:cNvSpPr/>
          <p:nvPr/>
        </p:nvSpPr>
        <p:spPr>
          <a:xfrm>
            <a:off x="594360" y="4023360"/>
            <a:ext cx="1156716" cy="365760"/>
          </a:xfrm>
          <a:prstGeom prst="roundRect">
            <a:avLst>
              <a:gd name="adj" fmla="val 20000"/>
            </a:avLst>
          </a:prstGeom>
          <a:solidFill>
            <a:schemeClr val="bg1"/>
          </a:solidFill>
          <a:ln/>
        </p:spPr>
      </p:sp>
      <p:sp>
        <p:nvSpPr>
          <p:cNvPr id="35" name="Chip text"/>
          <p:cNvSpPr txBox="1"/>
          <p:nvPr/>
        </p:nvSpPr>
        <p:spPr>
          <a:xfrm>
            <a:off x="594360" y="4023360"/>
            <a:ext cx="1156716" cy="365760"/>
          </a:xfrm>
          <a:prstGeom prst="rect">
            <a:avLst/>
          </a:prstGeom>
          <a:noFill/>
          <a:ln/>
        </p:spPr>
        <p:txBody>
          <a:bodyPr wrap="square" lIns="0" tIns="0" rIns="0" bIns="0" rtlCol="0" anchor="ctr"/>
          <a:lstStyle/>
          <a:p>
            <a:pPr algn="ctr" indent="0" marL="0">
              <a:buNone/>
            </a:pPr>
            <a:r>
              <a:rPr lang="en-US" sz="1100" b="1" dirty="0">
                <a:solidFill>
                  <a:schemeClr val="tx2"/>
                </a:solidFill>
              </a:rPr>
              <a:t>Products</a:t>
            </a:r>
            <a:endParaRPr lang="en-US" sz="1100" dirty="0"/>
          </a:p>
        </p:txBody>
      </p:sp>
      <p:sp>
        <p:nvSpPr>
          <p:cNvPr id="36" name="Chip"/>
          <p:cNvSpPr/>
          <p:nvPr/>
        </p:nvSpPr>
        <p:spPr>
          <a:xfrm>
            <a:off x="1824228" y="4023360"/>
            <a:ext cx="1156716" cy="365760"/>
          </a:xfrm>
          <a:prstGeom prst="roundRect">
            <a:avLst>
              <a:gd name="adj" fmla="val 20000"/>
            </a:avLst>
          </a:prstGeom>
          <a:solidFill>
            <a:schemeClr val="bg1"/>
          </a:solidFill>
          <a:ln/>
        </p:spPr>
      </p:sp>
      <p:sp>
        <p:nvSpPr>
          <p:cNvPr id="37" name="Chip text"/>
          <p:cNvSpPr txBox="1"/>
          <p:nvPr/>
        </p:nvSpPr>
        <p:spPr>
          <a:xfrm>
            <a:off x="1824228" y="4023360"/>
            <a:ext cx="1156716" cy="365760"/>
          </a:xfrm>
          <a:prstGeom prst="rect">
            <a:avLst/>
          </a:prstGeom>
          <a:noFill/>
          <a:ln/>
        </p:spPr>
        <p:txBody>
          <a:bodyPr wrap="square" lIns="0" tIns="0" rIns="0" bIns="0" rtlCol="0" anchor="ctr"/>
          <a:lstStyle/>
          <a:p>
            <a:pPr algn="ctr" indent="0" marL="0">
              <a:buNone/>
            </a:pPr>
            <a:r>
              <a:rPr lang="en-US" sz="1100" b="1" dirty="0">
                <a:solidFill>
                  <a:schemeClr val="tx2"/>
                </a:solidFill>
              </a:rPr>
              <a:t>Users</a:t>
            </a:r>
            <a:endParaRPr lang="en-US" sz="1100" dirty="0"/>
          </a:p>
        </p:txBody>
      </p:sp>
      <p:sp>
        <p:nvSpPr>
          <p:cNvPr id="38" name="Chip"/>
          <p:cNvSpPr/>
          <p:nvPr/>
        </p:nvSpPr>
        <p:spPr>
          <a:xfrm>
            <a:off x="3054096" y="4023360"/>
            <a:ext cx="1156716" cy="365760"/>
          </a:xfrm>
          <a:prstGeom prst="roundRect">
            <a:avLst>
              <a:gd name="adj" fmla="val 20000"/>
            </a:avLst>
          </a:prstGeom>
          <a:solidFill>
            <a:schemeClr val="bg1"/>
          </a:solidFill>
          <a:ln/>
        </p:spPr>
      </p:sp>
      <p:sp>
        <p:nvSpPr>
          <p:cNvPr id="39" name="Chip text"/>
          <p:cNvSpPr txBox="1"/>
          <p:nvPr/>
        </p:nvSpPr>
        <p:spPr>
          <a:xfrm>
            <a:off x="3054096" y="4023360"/>
            <a:ext cx="1156716" cy="365760"/>
          </a:xfrm>
          <a:prstGeom prst="rect">
            <a:avLst/>
          </a:prstGeom>
          <a:noFill/>
          <a:ln/>
        </p:spPr>
        <p:txBody>
          <a:bodyPr wrap="square" lIns="0" tIns="0" rIns="0" bIns="0" rtlCol="0" anchor="ctr"/>
          <a:lstStyle/>
          <a:p>
            <a:pPr algn="ctr" indent="0" marL="0">
              <a:buNone/>
            </a:pPr>
            <a:r>
              <a:rPr lang="en-US" sz="1100" b="1" dirty="0">
                <a:solidFill>
                  <a:schemeClr val="tx2"/>
                </a:solidFill>
              </a:rPr>
              <a:t>Orders</a:t>
            </a:r>
            <a:endParaRPr lang="en-US" sz="1100" dirty="0"/>
          </a:p>
        </p:txBody>
      </p:sp>
      <p:sp>
        <p:nvSpPr>
          <p:cNvPr id="40" name="Chip"/>
          <p:cNvSpPr/>
          <p:nvPr/>
        </p:nvSpPr>
        <p:spPr>
          <a:xfrm>
            <a:off x="4283964" y="4023360"/>
            <a:ext cx="1156716" cy="365760"/>
          </a:xfrm>
          <a:prstGeom prst="roundRect">
            <a:avLst>
              <a:gd name="adj" fmla="val 20000"/>
            </a:avLst>
          </a:prstGeom>
          <a:solidFill>
            <a:schemeClr val="bg1"/>
          </a:solidFill>
          <a:ln/>
        </p:spPr>
      </p:sp>
      <p:sp>
        <p:nvSpPr>
          <p:cNvPr id="41" name="Chip text"/>
          <p:cNvSpPr txBox="1"/>
          <p:nvPr/>
        </p:nvSpPr>
        <p:spPr>
          <a:xfrm>
            <a:off x="4283964" y="4023360"/>
            <a:ext cx="1156716" cy="365760"/>
          </a:xfrm>
          <a:prstGeom prst="rect">
            <a:avLst/>
          </a:prstGeom>
          <a:noFill/>
          <a:ln/>
        </p:spPr>
        <p:txBody>
          <a:bodyPr wrap="square" lIns="0" tIns="0" rIns="0" bIns="0" rtlCol="0" anchor="ctr"/>
          <a:lstStyle/>
          <a:p>
            <a:pPr algn="ctr" indent="0" marL="0">
              <a:buNone/>
            </a:pPr>
            <a:r>
              <a:rPr lang="en-US" sz="1100" b="1" dirty="0">
                <a:solidFill>
                  <a:schemeClr val="tx2"/>
                </a:solidFill>
              </a:rPr>
              <a:t>Reviews</a:t>
            </a:r>
            <a:endParaRPr lang="en-US" sz="1100" dirty="0"/>
          </a:p>
        </p:txBody>
      </p:sp>
      <p:sp>
        <p:nvSpPr>
          <p:cNvPr id="42" name="Flow card"/>
          <p:cNvSpPr/>
          <p:nvPr/>
        </p:nvSpPr>
        <p:spPr>
          <a:xfrm>
            <a:off x="5852160" y="1024128"/>
            <a:ext cx="2834640" cy="3456432"/>
          </a:xfrm>
          <a:prstGeom prst="roundRect">
            <a:avLst>
              <a:gd name="adj" fmla="val 3226"/>
            </a:avLst>
          </a:prstGeom>
          <a:solidFill>
            <a:schemeClr val="tx2"/>
          </a:solidFill>
          <a:ln/>
        </p:spPr>
      </p:sp>
      <p:sp>
        <p:nvSpPr>
          <p:cNvPr id="43" name="Flow heading"/>
          <p:cNvSpPr txBox="1"/>
          <p:nvPr/>
        </p:nvSpPr>
        <p:spPr>
          <a:xfrm>
            <a:off x="6035040" y="1143000"/>
            <a:ext cx="2468880" cy="320040"/>
          </a:xfrm>
          <a:prstGeom prst="rect">
            <a:avLst/>
          </a:prstGeom>
          <a:noFill/>
          <a:ln/>
        </p:spPr>
        <p:txBody>
          <a:bodyPr wrap="square" lIns="0" tIns="0" rIns="0" bIns="0" rtlCol="0" anchor="ctr"/>
          <a:lstStyle/>
          <a:p>
            <a:pPr indent="0" marL="0">
              <a:buNone/>
            </a:pPr>
            <a:r>
              <a:rPr lang="en-US" sz="1800" b="1" dirty="0">
                <a:solidFill>
                  <a:schemeClr val="accent3"/>
                </a:solidFill>
                <a:latin typeface="+mj-lt" pitchFamily="34" charset="0"/>
                <a:ea typeface="+mj-lt" pitchFamily="34" charset="-122"/>
                <a:cs typeface="+mj-lt" pitchFamily="34" charset="-120"/>
              </a:rPr>
              <a:t>Data flow</a:t>
            </a:r>
            <a:endParaRPr lang="en-US" sz="1800" dirty="0"/>
          </a:p>
        </p:txBody>
      </p:sp>
      <p:sp>
        <p:nvSpPr>
          <p:cNvPr id="44" name="Flow circle"/>
          <p:cNvSpPr/>
          <p:nvPr/>
        </p:nvSpPr>
        <p:spPr>
          <a:xfrm>
            <a:off x="6035040" y="1645920"/>
            <a:ext cx="310896" cy="310896"/>
          </a:xfrm>
          <a:prstGeom prst="ellipse">
            <a:avLst/>
          </a:prstGeom>
          <a:solidFill>
            <a:schemeClr val="accent3"/>
          </a:solidFill>
          <a:ln/>
        </p:spPr>
      </p:sp>
      <p:sp>
        <p:nvSpPr>
          <p:cNvPr id="45" name="Flow number"/>
          <p:cNvSpPr txBox="1"/>
          <p:nvPr/>
        </p:nvSpPr>
        <p:spPr>
          <a:xfrm>
            <a:off x="6035040" y="1645920"/>
            <a:ext cx="310896" cy="310896"/>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46" name="Flow text"/>
          <p:cNvSpPr txBox="1"/>
          <p:nvPr/>
        </p:nvSpPr>
        <p:spPr>
          <a:xfrm>
            <a:off x="6492240" y="1600200"/>
            <a:ext cx="2057400" cy="457200"/>
          </a:xfrm>
          <a:prstGeom prst="rect">
            <a:avLst/>
          </a:prstGeom>
          <a:noFill/>
          <a:ln/>
        </p:spPr>
        <p:txBody>
          <a:bodyPr wrap="square" lIns="0" tIns="0" rIns="0" bIns="0" rtlCol="0" anchor="ctr"/>
          <a:lstStyle/>
          <a:p>
            <a:pPr indent="0" marL="0">
              <a:buNone/>
            </a:pPr>
            <a:r>
              <a:rPr lang="en-US" sz="1400" dirty="0">
                <a:solidFill>
                  <a:schemeClr val="bg1"/>
                </a:solidFill>
              </a:rPr>
              <a:t>Client sends an HTTP request</a:t>
            </a:r>
            <a:endParaRPr lang="en-US" sz="1400" dirty="0"/>
          </a:p>
        </p:txBody>
      </p:sp>
      <p:sp>
        <p:nvSpPr>
          <p:cNvPr id="47" name="Flow circle"/>
          <p:cNvSpPr/>
          <p:nvPr/>
        </p:nvSpPr>
        <p:spPr>
          <a:xfrm>
            <a:off x="6035040" y="2212848"/>
            <a:ext cx="310896" cy="310896"/>
          </a:xfrm>
          <a:prstGeom prst="ellipse">
            <a:avLst/>
          </a:prstGeom>
          <a:solidFill>
            <a:schemeClr val="accent3"/>
          </a:solidFill>
          <a:ln/>
        </p:spPr>
      </p:sp>
      <p:sp>
        <p:nvSpPr>
          <p:cNvPr id="48" name="Flow number"/>
          <p:cNvSpPr txBox="1"/>
          <p:nvPr/>
        </p:nvSpPr>
        <p:spPr>
          <a:xfrm>
            <a:off x="6035040" y="2212848"/>
            <a:ext cx="310896" cy="310896"/>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49" name="Flow text"/>
          <p:cNvSpPr txBox="1"/>
          <p:nvPr/>
        </p:nvSpPr>
        <p:spPr>
          <a:xfrm>
            <a:off x="6492240" y="2167128"/>
            <a:ext cx="2057400" cy="457200"/>
          </a:xfrm>
          <a:prstGeom prst="rect">
            <a:avLst/>
          </a:prstGeom>
          <a:noFill/>
          <a:ln/>
        </p:spPr>
        <p:txBody>
          <a:bodyPr wrap="square" lIns="0" tIns="0" rIns="0" bIns="0" rtlCol="0" anchor="ctr"/>
          <a:lstStyle/>
          <a:p>
            <a:pPr indent="0" marL="0">
              <a:buNone/>
            </a:pPr>
            <a:r>
              <a:rPr lang="en-US" sz="1400" dirty="0">
                <a:solidFill>
                  <a:schemeClr val="bg1"/>
                </a:solidFill>
              </a:rPr>
              <a:t>Express checks login and rules</a:t>
            </a:r>
            <a:endParaRPr lang="en-US" sz="1400" dirty="0"/>
          </a:p>
        </p:txBody>
      </p:sp>
      <p:sp>
        <p:nvSpPr>
          <p:cNvPr id="50" name="Flow circle"/>
          <p:cNvSpPr/>
          <p:nvPr/>
        </p:nvSpPr>
        <p:spPr>
          <a:xfrm>
            <a:off x="6035040" y="2779776"/>
            <a:ext cx="310896" cy="310896"/>
          </a:xfrm>
          <a:prstGeom prst="ellipse">
            <a:avLst/>
          </a:prstGeom>
          <a:solidFill>
            <a:schemeClr val="accent3"/>
          </a:solidFill>
          <a:ln/>
        </p:spPr>
      </p:sp>
      <p:sp>
        <p:nvSpPr>
          <p:cNvPr id="51" name="Flow number"/>
          <p:cNvSpPr txBox="1"/>
          <p:nvPr/>
        </p:nvSpPr>
        <p:spPr>
          <a:xfrm>
            <a:off x="6035040" y="2779776"/>
            <a:ext cx="310896" cy="310896"/>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52" name="Flow text"/>
          <p:cNvSpPr txBox="1"/>
          <p:nvPr/>
        </p:nvSpPr>
        <p:spPr>
          <a:xfrm>
            <a:off x="6492240" y="2734056"/>
            <a:ext cx="2057400" cy="457200"/>
          </a:xfrm>
          <a:prstGeom prst="rect">
            <a:avLst/>
          </a:prstGeom>
          <a:noFill/>
          <a:ln/>
        </p:spPr>
        <p:txBody>
          <a:bodyPr wrap="square" lIns="0" tIns="0" rIns="0" bIns="0" rtlCol="0" anchor="ctr"/>
          <a:lstStyle/>
          <a:p>
            <a:pPr indent="0" marL="0">
              <a:buNone/>
            </a:pPr>
            <a:r>
              <a:rPr lang="en-US" sz="1400" dirty="0">
                <a:solidFill>
                  <a:schemeClr val="bg1"/>
                </a:solidFill>
              </a:rPr>
              <a:t>Mongoose reads or writes MongoDB</a:t>
            </a:r>
            <a:endParaRPr lang="en-US" sz="1400" dirty="0"/>
          </a:p>
        </p:txBody>
      </p:sp>
      <p:sp>
        <p:nvSpPr>
          <p:cNvPr id="53" name="Flow circle"/>
          <p:cNvSpPr/>
          <p:nvPr/>
        </p:nvSpPr>
        <p:spPr>
          <a:xfrm>
            <a:off x="6035040" y="3346704"/>
            <a:ext cx="310896" cy="310896"/>
          </a:xfrm>
          <a:prstGeom prst="ellipse">
            <a:avLst/>
          </a:prstGeom>
          <a:solidFill>
            <a:schemeClr val="accent3"/>
          </a:solidFill>
          <a:ln/>
        </p:spPr>
      </p:sp>
      <p:sp>
        <p:nvSpPr>
          <p:cNvPr id="54" name="Flow number"/>
          <p:cNvSpPr txBox="1"/>
          <p:nvPr/>
        </p:nvSpPr>
        <p:spPr>
          <a:xfrm>
            <a:off x="6035040" y="3346704"/>
            <a:ext cx="310896" cy="310896"/>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55" name="Flow text"/>
          <p:cNvSpPr txBox="1"/>
          <p:nvPr/>
        </p:nvSpPr>
        <p:spPr>
          <a:xfrm>
            <a:off x="6492240" y="3300984"/>
            <a:ext cx="2057400" cy="457200"/>
          </a:xfrm>
          <a:prstGeom prst="rect">
            <a:avLst/>
          </a:prstGeom>
          <a:noFill/>
          <a:ln/>
        </p:spPr>
        <p:txBody>
          <a:bodyPr wrap="square" lIns="0" tIns="0" rIns="0" bIns="0" rtlCol="0" anchor="ctr"/>
          <a:lstStyle/>
          <a:p>
            <a:pPr indent="0" marL="0">
              <a:buNone/>
            </a:pPr>
            <a:r>
              <a:rPr lang="en-US" sz="1400" dirty="0">
                <a:solidFill>
                  <a:schemeClr val="bg1"/>
                </a:solidFill>
              </a:rPr>
              <a:t>JSON response updates the page</a:t>
            </a:r>
            <a:endParaRPr lang="en-US" sz="1400" dirty="0"/>
          </a:p>
        </p:txBody>
      </p:sp>
      <p:sp>
        <p:nvSpPr>
          <p:cNvPr id="56" name="Flow circle"/>
          <p:cNvSpPr/>
          <p:nvPr/>
        </p:nvSpPr>
        <p:spPr>
          <a:xfrm>
            <a:off x="6035040" y="3913632"/>
            <a:ext cx="310896" cy="310896"/>
          </a:xfrm>
          <a:prstGeom prst="ellipse">
            <a:avLst/>
          </a:prstGeom>
          <a:solidFill>
            <a:schemeClr val="accent3"/>
          </a:solidFill>
          <a:ln/>
        </p:spPr>
      </p:sp>
      <p:sp>
        <p:nvSpPr>
          <p:cNvPr id="57" name="Flow number"/>
          <p:cNvSpPr txBox="1"/>
          <p:nvPr/>
        </p:nvSpPr>
        <p:spPr>
          <a:xfrm>
            <a:off x="6035040" y="3913632"/>
            <a:ext cx="310896" cy="310896"/>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58" name="Flow text"/>
          <p:cNvSpPr txBox="1"/>
          <p:nvPr/>
        </p:nvSpPr>
        <p:spPr>
          <a:xfrm>
            <a:off x="6492240" y="3867912"/>
            <a:ext cx="2057400" cy="457200"/>
          </a:xfrm>
          <a:prstGeom prst="rect">
            <a:avLst/>
          </a:prstGeom>
          <a:noFill/>
          <a:ln/>
        </p:spPr>
        <p:txBody>
          <a:bodyPr wrap="square" lIns="0" tIns="0" rIns="0" bIns="0" rtlCol="0" anchor="ctr"/>
          <a:lstStyle/>
          <a:p>
            <a:pPr indent="0" marL="0">
              <a:buNone/>
            </a:pPr>
            <a:r>
              <a:rPr lang="en-US" sz="1400" dirty="0">
                <a:solidFill>
                  <a:schemeClr val="bg1"/>
                </a:solidFill>
              </a:rPr>
              <a:t>Email sent on order and status change</a:t>
            </a:r>
            <a:endParaRPr lang="en-US" sz="14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Technologies and tools used</a:t>
            </a:r>
            <a:endParaRPr lang="en-US" sz="3200" dirty="0"/>
          </a:p>
        </p:txBody>
      </p:sp>
      <p:sp>
        <p:nvSpPr>
          <p:cNvPr id="4" name="Frontend card"/>
          <p:cNvSpPr/>
          <p:nvPr/>
        </p:nvSpPr>
        <p:spPr>
          <a:xfrm>
            <a:off x="457200" y="1097280"/>
            <a:ext cx="1920240" cy="3108960"/>
          </a:xfrm>
          <a:prstGeom prst="roundRect">
            <a:avLst>
              <a:gd name="adj" fmla="val 4762"/>
            </a:avLst>
          </a:prstGeom>
          <a:solidFill>
            <a:schemeClr val="bg2"/>
          </a:solidFill>
          <a:ln/>
        </p:spPr>
      </p:sp>
      <p:sp>
        <p:nvSpPr>
          <p:cNvPr id="5" name="Frontend circle"/>
          <p:cNvSpPr/>
          <p:nvPr/>
        </p:nvSpPr>
        <p:spPr>
          <a:xfrm>
            <a:off x="640080" y="1261872"/>
            <a:ext cx="502920" cy="502920"/>
          </a:xfrm>
          <a:prstGeom prst="ellipse">
            <a:avLst/>
          </a:prstGeom>
          <a:solidFill>
            <a:srgbClr val="3F72AF"/>
          </a:solidFill>
          <a:ln/>
        </p:spPr>
      </p:sp>
      <p:pic>
        <p:nvPicPr>
          <p:cNvPr id="6" name="Image 0" descr="Frontend">    </p:cNvPr>
          <p:cNvPicPr>
            <a:picLocks noChangeAspect="1"/>
          </p:cNvPicPr>
          <p:nvPr/>
        </p:nvPicPr>
        <p:blipFill>
          <a:blip r:embed="rId1"/>
          <a:stretch>
            <a:fillRect/>
          </a:stretch>
        </p:blipFill>
        <p:spPr>
          <a:xfrm>
            <a:off x="770839" y="1392631"/>
            <a:ext cx="241402" cy="241402"/>
          </a:xfrm>
          <a:prstGeom prst="rect">
            <a:avLst/>
          </a:prstGeom>
        </p:spPr>
      </p:pic>
      <p:sp>
        <p:nvSpPr>
          <p:cNvPr id="7" name="Tech heading"/>
          <p:cNvSpPr txBox="1"/>
          <p:nvPr/>
        </p:nvSpPr>
        <p:spPr>
          <a:xfrm>
            <a:off x="640080" y="1874520"/>
            <a:ext cx="1645920" cy="365760"/>
          </a:xfrm>
          <a:prstGeom prst="rect">
            <a:avLst/>
          </a:prstGeom>
          <a:noFill/>
          <a:ln/>
        </p:spPr>
        <p:txBody>
          <a:bodyPr wrap="square" lIns="0" tIns="0" rIns="0" bIns="0" rtlCol="0" anchor="ctr"/>
          <a:lstStyle/>
          <a:p>
            <a:pPr indent="0" marL="0">
              <a:buNone/>
            </a:pPr>
            <a:r>
              <a:rPr lang="en-US" sz="1700" b="1" dirty="0">
                <a:solidFill>
                  <a:schemeClr val="tx2"/>
                </a:solidFill>
              </a:rPr>
              <a:t>Frontend</a:t>
            </a:r>
            <a:endParaRPr lang="en-US" sz="1700" dirty="0"/>
          </a:p>
        </p:txBody>
      </p:sp>
      <p:sp>
        <p:nvSpPr>
          <p:cNvPr id="8" name="Tech list"/>
          <p:cNvSpPr txBox="1"/>
          <p:nvPr/>
        </p:nvSpPr>
        <p:spPr>
          <a:xfrm>
            <a:off x="640080" y="2377440"/>
            <a:ext cx="1600200" cy="20116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JavaScript (ES6)</a:t>
            </a:r>
            <a:endParaRPr lang="en-US" sz="1400" dirty="0"/>
          </a:p>
          <a:p>
            <a:pPr marL="177800" indent="-177800">
              <a:spcAft>
                <a:spcPts val="700"/>
              </a:spcAft>
              <a:buSzPct val="100000"/>
              <a:buChar char="•"/>
            </a:pPr>
            <a:r>
              <a:rPr lang="en-US" sz="1400" dirty="0">
                <a:solidFill>
                  <a:schemeClr val="tx1"/>
                </a:solidFill>
              </a:rPr>
              <a:t>React with Vite</a:t>
            </a:r>
            <a:endParaRPr lang="en-US" sz="1400" dirty="0"/>
          </a:p>
          <a:p>
            <a:pPr marL="177800" indent="-177800">
              <a:spcAft>
                <a:spcPts val="700"/>
              </a:spcAft>
              <a:buSzPct val="100000"/>
              <a:buChar char="•"/>
            </a:pPr>
            <a:r>
              <a:rPr lang="en-US" sz="1400" dirty="0">
                <a:solidFill>
                  <a:schemeClr val="tx1"/>
                </a:solidFill>
              </a:rPr>
              <a:t>React Router</a:t>
            </a:r>
            <a:endParaRPr lang="en-US" sz="1400" dirty="0"/>
          </a:p>
          <a:p>
            <a:pPr marL="177800" indent="-177800">
              <a:spcAft>
                <a:spcPts val="700"/>
              </a:spcAft>
              <a:buSzPct val="100000"/>
              <a:buChar char="•"/>
            </a:pPr>
            <a:r>
              <a:rPr lang="en-US" sz="1400" dirty="0">
                <a:solidFill>
                  <a:schemeClr val="tx1"/>
                </a:solidFill>
              </a:rPr>
              <a:t>Context API, hooks</a:t>
            </a:r>
            <a:endParaRPr lang="en-US" sz="1400" dirty="0"/>
          </a:p>
          <a:p>
            <a:pPr marL="177800" indent="-177800">
              <a:spcAft>
                <a:spcPts val="700"/>
              </a:spcAft>
              <a:buSzPct val="100000"/>
              <a:buChar char="•"/>
            </a:pPr>
            <a:r>
              <a:rPr lang="en-US" sz="1400" dirty="0">
                <a:solidFill>
                  <a:schemeClr val="tx1"/>
                </a:solidFill>
              </a:rPr>
              <a:t>Axios</a:t>
            </a:r>
            <a:endParaRPr lang="en-US" sz="1400" dirty="0"/>
          </a:p>
        </p:txBody>
      </p:sp>
      <p:sp>
        <p:nvSpPr>
          <p:cNvPr id="9" name="Backend card"/>
          <p:cNvSpPr/>
          <p:nvPr/>
        </p:nvSpPr>
        <p:spPr>
          <a:xfrm>
            <a:off x="2560320" y="1097280"/>
            <a:ext cx="1920240" cy="3108960"/>
          </a:xfrm>
          <a:prstGeom prst="roundRect">
            <a:avLst>
              <a:gd name="adj" fmla="val 4762"/>
            </a:avLst>
          </a:prstGeom>
          <a:solidFill>
            <a:schemeClr val="bg2"/>
          </a:solidFill>
          <a:ln/>
        </p:spPr>
      </p:sp>
      <p:sp>
        <p:nvSpPr>
          <p:cNvPr id="10" name="Backend circle"/>
          <p:cNvSpPr/>
          <p:nvPr/>
        </p:nvSpPr>
        <p:spPr>
          <a:xfrm>
            <a:off x="2743200" y="1261872"/>
            <a:ext cx="502920" cy="502920"/>
          </a:xfrm>
          <a:prstGeom prst="ellipse">
            <a:avLst/>
          </a:prstGeom>
          <a:solidFill>
            <a:srgbClr val="2F8F6B"/>
          </a:solidFill>
          <a:ln/>
        </p:spPr>
      </p:sp>
      <p:pic>
        <p:nvPicPr>
          <p:cNvPr id="11" name="Image 1" descr="Backend">    </p:cNvPr>
          <p:cNvPicPr>
            <a:picLocks noChangeAspect="1"/>
          </p:cNvPicPr>
          <p:nvPr/>
        </p:nvPicPr>
        <p:blipFill>
          <a:blip r:embed="rId2"/>
          <a:stretch>
            <a:fillRect/>
          </a:stretch>
        </p:blipFill>
        <p:spPr>
          <a:xfrm>
            <a:off x="2873959" y="1392631"/>
            <a:ext cx="241402" cy="241402"/>
          </a:xfrm>
          <a:prstGeom prst="rect">
            <a:avLst/>
          </a:prstGeom>
        </p:spPr>
      </p:pic>
      <p:sp>
        <p:nvSpPr>
          <p:cNvPr id="12" name="Tech heading"/>
          <p:cNvSpPr txBox="1"/>
          <p:nvPr/>
        </p:nvSpPr>
        <p:spPr>
          <a:xfrm>
            <a:off x="2743200" y="1874520"/>
            <a:ext cx="1645920" cy="365760"/>
          </a:xfrm>
          <a:prstGeom prst="rect">
            <a:avLst/>
          </a:prstGeom>
          <a:noFill/>
          <a:ln/>
        </p:spPr>
        <p:txBody>
          <a:bodyPr wrap="square" lIns="0" tIns="0" rIns="0" bIns="0" rtlCol="0" anchor="ctr"/>
          <a:lstStyle/>
          <a:p>
            <a:pPr indent="0" marL="0">
              <a:buNone/>
            </a:pPr>
            <a:r>
              <a:rPr lang="en-US" sz="1700" b="1" dirty="0">
                <a:solidFill>
                  <a:schemeClr val="tx2"/>
                </a:solidFill>
              </a:rPr>
              <a:t>Backend</a:t>
            </a:r>
            <a:endParaRPr lang="en-US" sz="1700" dirty="0"/>
          </a:p>
        </p:txBody>
      </p:sp>
      <p:sp>
        <p:nvSpPr>
          <p:cNvPr id="13" name="Tech list"/>
          <p:cNvSpPr txBox="1"/>
          <p:nvPr/>
        </p:nvSpPr>
        <p:spPr>
          <a:xfrm>
            <a:off x="2743200" y="2377440"/>
            <a:ext cx="1600200" cy="20116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Node.js</a:t>
            </a:r>
            <a:endParaRPr lang="en-US" sz="1400" dirty="0"/>
          </a:p>
          <a:p>
            <a:pPr marL="177800" indent="-177800">
              <a:spcAft>
                <a:spcPts val="700"/>
              </a:spcAft>
              <a:buSzPct val="100000"/>
              <a:buChar char="•"/>
            </a:pPr>
            <a:r>
              <a:rPr lang="en-US" sz="1400" dirty="0">
                <a:solidFill>
                  <a:schemeClr val="tx1"/>
                </a:solidFill>
              </a:rPr>
              <a:t>Express.js, REST API</a:t>
            </a:r>
            <a:endParaRPr lang="en-US" sz="1400" dirty="0"/>
          </a:p>
          <a:p>
            <a:pPr marL="177800" indent="-177800">
              <a:spcAft>
                <a:spcPts val="700"/>
              </a:spcAft>
              <a:buSzPct val="100000"/>
              <a:buChar char="•"/>
            </a:pPr>
            <a:r>
              <a:rPr lang="en-US" sz="1400" dirty="0">
                <a:solidFill>
                  <a:schemeClr val="tx1"/>
                </a:solidFill>
              </a:rPr>
              <a:t>JWT and bcrypt</a:t>
            </a:r>
            <a:endParaRPr lang="en-US" sz="1400" dirty="0"/>
          </a:p>
          <a:p>
            <a:pPr marL="177800" indent="-177800">
              <a:spcAft>
                <a:spcPts val="700"/>
              </a:spcAft>
              <a:buSzPct val="100000"/>
              <a:buChar char="•"/>
            </a:pPr>
            <a:r>
              <a:rPr lang="en-US" sz="1400" dirty="0">
                <a:solidFill>
                  <a:schemeClr val="tx1"/>
                </a:solidFill>
              </a:rPr>
              <a:t>SMTP email service</a:t>
            </a:r>
            <a:endParaRPr lang="en-US" sz="1400" dirty="0"/>
          </a:p>
          <a:p>
            <a:pPr marL="177800" indent="-177800">
              <a:spcAft>
                <a:spcPts val="700"/>
              </a:spcAft>
              <a:buSzPct val="100000"/>
              <a:buChar char="•"/>
            </a:pPr>
            <a:r>
              <a:rPr lang="en-US" sz="1400" dirty="0">
                <a:solidFill>
                  <a:schemeClr val="tx1"/>
                </a:solidFill>
              </a:rPr>
              <a:t>dotenv</a:t>
            </a:r>
            <a:endParaRPr lang="en-US" sz="1400" dirty="0"/>
          </a:p>
        </p:txBody>
      </p:sp>
      <p:sp>
        <p:nvSpPr>
          <p:cNvPr id="14" name="Database card"/>
          <p:cNvSpPr/>
          <p:nvPr/>
        </p:nvSpPr>
        <p:spPr>
          <a:xfrm>
            <a:off x="4663440" y="1097280"/>
            <a:ext cx="1920240" cy="3108960"/>
          </a:xfrm>
          <a:prstGeom prst="roundRect">
            <a:avLst>
              <a:gd name="adj" fmla="val 4762"/>
            </a:avLst>
          </a:prstGeom>
          <a:solidFill>
            <a:schemeClr val="bg2"/>
          </a:solidFill>
          <a:ln/>
        </p:spPr>
      </p:sp>
      <p:sp>
        <p:nvSpPr>
          <p:cNvPr id="15" name="Database circle"/>
          <p:cNvSpPr/>
          <p:nvPr/>
        </p:nvSpPr>
        <p:spPr>
          <a:xfrm>
            <a:off x="4846320" y="1261872"/>
            <a:ext cx="502920" cy="502920"/>
          </a:xfrm>
          <a:prstGeom prst="ellipse">
            <a:avLst/>
          </a:prstGeom>
          <a:solidFill>
            <a:srgbClr val="C4533B"/>
          </a:solidFill>
          <a:ln/>
        </p:spPr>
      </p:sp>
      <p:pic>
        <p:nvPicPr>
          <p:cNvPr id="16" name="Image 2" descr="Database">    </p:cNvPr>
          <p:cNvPicPr>
            <a:picLocks noChangeAspect="1"/>
          </p:cNvPicPr>
          <p:nvPr/>
        </p:nvPicPr>
        <p:blipFill>
          <a:blip r:embed="rId3"/>
          <a:stretch>
            <a:fillRect/>
          </a:stretch>
        </p:blipFill>
        <p:spPr>
          <a:xfrm>
            <a:off x="4977079" y="1392631"/>
            <a:ext cx="241402" cy="241402"/>
          </a:xfrm>
          <a:prstGeom prst="rect">
            <a:avLst/>
          </a:prstGeom>
        </p:spPr>
      </p:pic>
      <p:sp>
        <p:nvSpPr>
          <p:cNvPr id="17" name="Tech heading"/>
          <p:cNvSpPr txBox="1"/>
          <p:nvPr/>
        </p:nvSpPr>
        <p:spPr>
          <a:xfrm>
            <a:off x="4846320" y="1874520"/>
            <a:ext cx="1645920" cy="365760"/>
          </a:xfrm>
          <a:prstGeom prst="rect">
            <a:avLst/>
          </a:prstGeom>
          <a:noFill/>
          <a:ln/>
        </p:spPr>
        <p:txBody>
          <a:bodyPr wrap="square" lIns="0" tIns="0" rIns="0" bIns="0" rtlCol="0" anchor="ctr"/>
          <a:lstStyle/>
          <a:p>
            <a:pPr indent="0" marL="0">
              <a:buNone/>
            </a:pPr>
            <a:r>
              <a:rPr lang="en-US" sz="1700" b="1" dirty="0">
                <a:solidFill>
                  <a:schemeClr val="tx2"/>
                </a:solidFill>
              </a:rPr>
              <a:t>Database</a:t>
            </a:r>
            <a:endParaRPr lang="en-US" sz="1700" dirty="0"/>
          </a:p>
        </p:txBody>
      </p:sp>
      <p:sp>
        <p:nvSpPr>
          <p:cNvPr id="18" name="Tech list"/>
          <p:cNvSpPr txBox="1"/>
          <p:nvPr/>
        </p:nvSpPr>
        <p:spPr>
          <a:xfrm>
            <a:off x="4846320" y="2377440"/>
            <a:ext cx="1600200" cy="20116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MongoDB</a:t>
            </a:r>
            <a:endParaRPr lang="en-US" sz="1400" dirty="0"/>
          </a:p>
          <a:p>
            <a:pPr marL="177800" indent="-177800">
              <a:spcAft>
                <a:spcPts val="700"/>
              </a:spcAft>
              <a:buSzPct val="100000"/>
              <a:buChar char="•"/>
            </a:pPr>
            <a:r>
              <a:rPr lang="en-US" sz="1400" dirty="0">
                <a:solidFill>
                  <a:schemeClr val="tx1"/>
                </a:solidFill>
              </a:rPr>
              <a:t>Mongoose schemas</a:t>
            </a:r>
            <a:endParaRPr lang="en-US" sz="1400" dirty="0"/>
          </a:p>
          <a:p>
            <a:pPr marL="177800" indent="-177800">
              <a:spcAft>
                <a:spcPts val="700"/>
              </a:spcAft>
              <a:buSzPct val="100000"/>
              <a:buChar char="•"/>
            </a:pPr>
            <a:r>
              <a:rPr lang="en-US" sz="1400" dirty="0">
                <a:solidFill>
                  <a:schemeClr val="tx1"/>
                </a:solidFill>
              </a:rPr>
              <a:t>Validation</a:t>
            </a:r>
            <a:endParaRPr lang="en-US" sz="1400" dirty="0"/>
          </a:p>
          <a:p>
            <a:pPr marL="177800" indent="-177800">
              <a:spcAft>
                <a:spcPts val="700"/>
              </a:spcAft>
              <a:buSzPct val="100000"/>
              <a:buChar char="•"/>
            </a:pPr>
            <a:r>
              <a:rPr lang="en-US" sz="1400" dirty="0">
                <a:solidFill>
                  <a:schemeClr val="tx1"/>
                </a:solidFill>
              </a:rPr>
              <a:t>MongoDB Compass</a:t>
            </a:r>
            <a:endParaRPr lang="en-US" sz="1400" dirty="0"/>
          </a:p>
        </p:txBody>
      </p:sp>
      <p:sp>
        <p:nvSpPr>
          <p:cNvPr id="19" name="DevOps and tools card"/>
          <p:cNvSpPr/>
          <p:nvPr/>
        </p:nvSpPr>
        <p:spPr>
          <a:xfrm>
            <a:off x="6766560" y="1097280"/>
            <a:ext cx="1920240" cy="3108960"/>
          </a:xfrm>
          <a:prstGeom prst="roundRect">
            <a:avLst>
              <a:gd name="adj" fmla="val 4762"/>
            </a:avLst>
          </a:prstGeom>
          <a:solidFill>
            <a:schemeClr val="bg2"/>
          </a:solidFill>
          <a:ln/>
        </p:spPr>
      </p:sp>
      <p:sp>
        <p:nvSpPr>
          <p:cNvPr id="20" name="DevOps and tools circle"/>
          <p:cNvSpPr/>
          <p:nvPr/>
        </p:nvSpPr>
        <p:spPr>
          <a:xfrm>
            <a:off x="6949440" y="1261872"/>
            <a:ext cx="502920" cy="502920"/>
          </a:xfrm>
          <a:prstGeom prst="ellipse">
            <a:avLst/>
          </a:prstGeom>
          <a:solidFill>
            <a:srgbClr val="1F4D3A"/>
          </a:solidFill>
          <a:ln/>
        </p:spPr>
      </p:sp>
      <p:pic>
        <p:nvPicPr>
          <p:cNvPr id="21" name="Image 3" descr="DevOps and tools">    </p:cNvPr>
          <p:cNvPicPr>
            <a:picLocks noChangeAspect="1"/>
          </p:cNvPicPr>
          <p:nvPr/>
        </p:nvPicPr>
        <p:blipFill>
          <a:blip r:embed="rId4"/>
          <a:stretch>
            <a:fillRect/>
          </a:stretch>
        </p:blipFill>
        <p:spPr>
          <a:xfrm>
            <a:off x="7080199" y="1392631"/>
            <a:ext cx="241402" cy="241402"/>
          </a:xfrm>
          <a:prstGeom prst="rect">
            <a:avLst/>
          </a:prstGeom>
        </p:spPr>
      </p:pic>
      <p:sp>
        <p:nvSpPr>
          <p:cNvPr id="22" name="Tech heading"/>
          <p:cNvSpPr txBox="1"/>
          <p:nvPr/>
        </p:nvSpPr>
        <p:spPr>
          <a:xfrm>
            <a:off x="6949440" y="1874520"/>
            <a:ext cx="1645920" cy="365760"/>
          </a:xfrm>
          <a:prstGeom prst="rect">
            <a:avLst/>
          </a:prstGeom>
          <a:noFill/>
          <a:ln/>
        </p:spPr>
        <p:txBody>
          <a:bodyPr wrap="square" lIns="0" tIns="0" rIns="0" bIns="0" rtlCol="0" anchor="ctr"/>
          <a:lstStyle/>
          <a:p>
            <a:pPr indent="0" marL="0">
              <a:buNone/>
            </a:pPr>
            <a:r>
              <a:rPr lang="en-US" sz="1700" b="1" dirty="0">
                <a:solidFill>
                  <a:schemeClr val="tx2"/>
                </a:solidFill>
              </a:rPr>
              <a:t>DevOps and tools</a:t>
            </a:r>
            <a:endParaRPr lang="en-US" sz="1700" dirty="0"/>
          </a:p>
        </p:txBody>
      </p:sp>
      <p:sp>
        <p:nvSpPr>
          <p:cNvPr id="23" name="Tech list"/>
          <p:cNvSpPr txBox="1"/>
          <p:nvPr/>
        </p:nvSpPr>
        <p:spPr>
          <a:xfrm>
            <a:off x="6949440" y="2377440"/>
            <a:ext cx="1600200" cy="20116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Git and GitHub</a:t>
            </a:r>
            <a:endParaRPr lang="en-US" sz="1400" dirty="0"/>
          </a:p>
          <a:p>
            <a:pPr marL="177800" indent="-177800">
              <a:spcAft>
                <a:spcPts val="700"/>
              </a:spcAft>
              <a:buSzPct val="100000"/>
              <a:buChar char="•"/>
            </a:pPr>
            <a:r>
              <a:rPr lang="en-US" sz="1400" dirty="0">
                <a:solidFill>
                  <a:schemeClr val="tx1"/>
                </a:solidFill>
              </a:rPr>
              <a:t>VS Code</a:t>
            </a:r>
            <a:endParaRPr lang="en-US" sz="1400" dirty="0"/>
          </a:p>
          <a:p>
            <a:pPr marL="177800" indent="-177800">
              <a:spcAft>
                <a:spcPts val="700"/>
              </a:spcAft>
              <a:buSzPct val="100000"/>
              <a:buChar char="•"/>
            </a:pPr>
            <a:r>
              <a:rPr lang="en-US" sz="1400" dirty="0">
                <a:solidFill>
                  <a:schemeClr val="tx1"/>
                </a:solidFill>
              </a:rPr>
              <a:t>curl for API tests</a:t>
            </a:r>
            <a:endParaRPr lang="en-US" sz="1400" dirty="0"/>
          </a:p>
          <a:p>
            <a:pPr marL="177800" indent="-177800">
              <a:spcAft>
                <a:spcPts val="700"/>
              </a:spcAft>
              <a:buSzPct val="100000"/>
              <a:buChar char="•"/>
            </a:pPr>
            <a:r>
              <a:rPr lang="en-US" sz="1400" dirty="0">
                <a:solidFill>
                  <a:schemeClr val="tx1"/>
                </a:solidFill>
              </a:rPr>
              <a:t>Vercel deployment</a:t>
            </a:r>
            <a:endParaRPr lang="en-US" sz="14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Modules and my contributions</a:t>
            </a:r>
            <a:endParaRPr lang="en-US" sz="3200" dirty="0"/>
          </a:p>
        </p:txBody>
      </p:sp>
      <p:sp>
        <p:nvSpPr>
          <p:cNvPr id="4" name="Module card"/>
          <p:cNvSpPr/>
          <p:nvPr/>
        </p:nvSpPr>
        <p:spPr>
          <a:xfrm>
            <a:off x="457200" y="1097280"/>
            <a:ext cx="2651760" cy="1645920"/>
          </a:xfrm>
          <a:prstGeom prst="roundRect">
            <a:avLst>
              <a:gd name="adj" fmla="val 5556"/>
            </a:avLst>
          </a:prstGeom>
          <a:solidFill>
            <a:schemeClr val="bg2"/>
          </a:solidFill>
          <a:ln/>
        </p:spPr>
      </p:sp>
      <p:sp>
        <p:nvSpPr>
          <p:cNvPr id="5" name="Product catalog circle"/>
          <p:cNvSpPr/>
          <p:nvPr/>
        </p:nvSpPr>
        <p:spPr>
          <a:xfrm>
            <a:off x="594360" y="1234440"/>
            <a:ext cx="411480" cy="411480"/>
          </a:xfrm>
          <a:prstGeom prst="ellipse">
            <a:avLst/>
          </a:prstGeom>
          <a:solidFill>
            <a:srgbClr val="2F8F6B"/>
          </a:solidFill>
          <a:ln/>
        </p:spPr>
      </p:sp>
      <p:pic>
        <p:nvPicPr>
          <p:cNvPr id="6" name="Image 0" descr="Product catalog">    </p:cNvPr>
          <p:cNvPicPr>
            <a:picLocks noChangeAspect="1"/>
          </p:cNvPicPr>
          <p:nvPr/>
        </p:nvPicPr>
        <p:blipFill>
          <a:blip r:embed="rId1"/>
          <a:stretch>
            <a:fillRect/>
          </a:stretch>
        </p:blipFill>
        <p:spPr>
          <a:xfrm>
            <a:off x="701345" y="1341425"/>
            <a:ext cx="197510" cy="197510"/>
          </a:xfrm>
          <a:prstGeom prst="rect">
            <a:avLst/>
          </a:prstGeom>
        </p:spPr>
      </p:pic>
      <p:sp>
        <p:nvSpPr>
          <p:cNvPr id="7" name="Module title"/>
          <p:cNvSpPr txBox="1"/>
          <p:nvPr/>
        </p:nvSpPr>
        <p:spPr>
          <a:xfrm>
            <a:off x="1115568" y="1234440"/>
            <a:ext cx="1920240" cy="411480"/>
          </a:xfrm>
          <a:prstGeom prst="rect">
            <a:avLst/>
          </a:prstGeom>
          <a:noFill/>
          <a:ln/>
        </p:spPr>
        <p:txBody>
          <a:bodyPr wrap="square" lIns="0" tIns="0" rIns="0" bIns="0" rtlCol="0" anchor="ctr"/>
          <a:lstStyle/>
          <a:p>
            <a:pPr indent="0" marL="0">
              <a:buNone/>
            </a:pPr>
            <a:r>
              <a:rPr lang="en-US" sz="1500" b="1" dirty="0">
                <a:solidFill>
                  <a:schemeClr val="tx2"/>
                </a:solidFill>
              </a:rPr>
              <a:t>Product catalog</a:t>
            </a:r>
            <a:endParaRPr lang="en-US" sz="1500" dirty="0"/>
          </a:p>
        </p:txBody>
      </p:sp>
      <p:sp>
        <p:nvSpPr>
          <p:cNvPr id="8" name="Module detail"/>
          <p:cNvSpPr txBox="1"/>
          <p:nvPr/>
        </p:nvSpPr>
        <p:spPr>
          <a:xfrm>
            <a:off x="594360" y="1737360"/>
            <a:ext cx="2423160" cy="914400"/>
          </a:xfrm>
          <a:prstGeom prst="rect">
            <a:avLst/>
          </a:prstGeom>
          <a:noFill/>
          <a:ln/>
        </p:spPr>
        <p:txBody>
          <a:bodyPr wrap="square" lIns="0" tIns="0" rIns="0" bIns="0" rtlCol="0" anchor="t"/>
          <a:lstStyle/>
          <a:p>
            <a:pPr indent="0" marL="0">
              <a:buNone/>
            </a:pPr>
            <a:r>
              <a:rPr lang="en-US" sz="1300" dirty="0">
                <a:solidFill>
                  <a:schemeClr val="tx1"/>
                </a:solidFill>
              </a:rPr>
              <a:t>Products from the API; search, category tabs, sorting, wishlist, quick view with reviews</a:t>
            </a:r>
            <a:endParaRPr lang="en-US" sz="1300" dirty="0"/>
          </a:p>
        </p:txBody>
      </p:sp>
      <p:sp>
        <p:nvSpPr>
          <p:cNvPr id="9" name="Module card"/>
          <p:cNvSpPr/>
          <p:nvPr/>
        </p:nvSpPr>
        <p:spPr>
          <a:xfrm>
            <a:off x="3291840" y="1097280"/>
            <a:ext cx="2651760" cy="1645920"/>
          </a:xfrm>
          <a:prstGeom prst="roundRect">
            <a:avLst>
              <a:gd name="adj" fmla="val 5556"/>
            </a:avLst>
          </a:prstGeom>
          <a:solidFill>
            <a:schemeClr val="bg2"/>
          </a:solidFill>
          <a:ln/>
        </p:spPr>
      </p:sp>
      <p:sp>
        <p:nvSpPr>
          <p:cNvPr id="10" name="Shopping cart circle"/>
          <p:cNvSpPr/>
          <p:nvPr/>
        </p:nvSpPr>
        <p:spPr>
          <a:xfrm>
            <a:off x="3429000" y="1234440"/>
            <a:ext cx="411480" cy="411480"/>
          </a:xfrm>
          <a:prstGeom prst="ellipse">
            <a:avLst/>
          </a:prstGeom>
          <a:solidFill>
            <a:srgbClr val="2F8F6B"/>
          </a:solidFill>
          <a:ln/>
        </p:spPr>
      </p:sp>
      <p:pic>
        <p:nvPicPr>
          <p:cNvPr id="11" name="Image 1" descr="Shopping cart">    </p:cNvPr>
          <p:cNvPicPr>
            <a:picLocks noChangeAspect="1"/>
          </p:cNvPicPr>
          <p:nvPr/>
        </p:nvPicPr>
        <p:blipFill>
          <a:blip r:embed="rId2"/>
          <a:stretch>
            <a:fillRect/>
          </a:stretch>
        </p:blipFill>
        <p:spPr>
          <a:xfrm>
            <a:off x="3535985" y="1341425"/>
            <a:ext cx="197510" cy="197510"/>
          </a:xfrm>
          <a:prstGeom prst="rect">
            <a:avLst/>
          </a:prstGeom>
        </p:spPr>
      </p:pic>
      <p:sp>
        <p:nvSpPr>
          <p:cNvPr id="12" name="Module title"/>
          <p:cNvSpPr txBox="1"/>
          <p:nvPr/>
        </p:nvSpPr>
        <p:spPr>
          <a:xfrm>
            <a:off x="3950208" y="1234440"/>
            <a:ext cx="1920240" cy="411480"/>
          </a:xfrm>
          <a:prstGeom prst="rect">
            <a:avLst/>
          </a:prstGeom>
          <a:noFill/>
          <a:ln/>
        </p:spPr>
        <p:txBody>
          <a:bodyPr wrap="square" lIns="0" tIns="0" rIns="0" bIns="0" rtlCol="0" anchor="ctr"/>
          <a:lstStyle/>
          <a:p>
            <a:pPr indent="0" marL="0">
              <a:buNone/>
            </a:pPr>
            <a:r>
              <a:rPr lang="en-US" sz="1500" b="1" dirty="0">
                <a:solidFill>
                  <a:schemeClr val="tx2"/>
                </a:solidFill>
              </a:rPr>
              <a:t>Shopping cart</a:t>
            </a:r>
            <a:endParaRPr lang="en-US" sz="1500" dirty="0"/>
          </a:p>
        </p:txBody>
      </p:sp>
      <p:sp>
        <p:nvSpPr>
          <p:cNvPr id="13" name="Module detail"/>
          <p:cNvSpPr txBox="1"/>
          <p:nvPr/>
        </p:nvSpPr>
        <p:spPr>
          <a:xfrm>
            <a:off x="3429000" y="1737360"/>
            <a:ext cx="2423160" cy="914400"/>
          </a:xfrm>
          <a:prstGeom prst="rect">
            <a:avLst/>
          </a:prstGeom>
          <a:noFill/>
          <a:ln/>
        </p:spPr>
        <p:txBody>
          <a:bodyPr wrap="square" lIns="0" tIns="0" rIns="0" bIns="0" rtlCol="0" anchor="t"/>
          <a:lstStyle/>
          <a:p>
            <a:pPr indent="0" marL="0">
              <a:buNone/>
            </a:pPr>
            <a:r>
              <a:rPr lang="en-US" sz="1300" dirty="0">
                <a:solidFill>
                  <a:schemeClr val="tx1"/>
                </a:solidFill>
              </a:rPr>
              <a:t>Add, remove and change quantity; subtotal recalculated on every change</a:t>
            </a:r>
            <a:endParaRPr lang="en-US" sz="1300" dirty="0"/>
          </a:p>
        </p:txBody>
      </p:sp>
      <p:sp>
        <p:nvSpPr>
          <p:cNvPr id="14" name="Module card"/>
          <p:cNvSpPr/>
          <p:nvPr/>
        </p:nvSpPr>
        <p:spPr>
          <a:xfrm>
            <a:off x="6126480" y="1097280"/>
            <a:ext cx="2651760" cy="1645920"/>
          </a:xfrm>
          <a:prstGeom prst="roundRect">
            <a:avLst>
              <a:gd name="adj" fmla="val 5556"/>
            </a:avLst>
          </a:prstGeom>
          <a:solidFill>
            <a:schemeClr val="bg2"/>
          </a:solidFill>
          <a:ln/>
        </p:spPr>
      </p:sp>
      <p:sp>
        <p:nvSpPr>
          <p:cNvPr id="15" name="Customer account circle"/>
          <p:cNvSpPr/>
          <p:nvPr/>
        </p:nvSpPr>
        <p:spPr>
          <a:xfrm>
            <a:off x="6263640" y="1234440"/>
            <a:ext cx="411480" cy="411480"/>
          </a:xfrm>
          <a:prstGeom prst="ellipse">
            <a:avLst/>
          </a:prstGeom>
          <a:solidFill>
            <a:srgbClr val="2F8F6B"/>
          </a:solidFill>
          <a:ln/>
        </p:spPr>
      </p:sp>
      <p:pic>
        <p:nvPicPr>
          <p:cNvPr id="16" name="Image 2" descr="Customer account">    </p:cNvPr>
          <p:cNvPicPr>
            <a:picLocks noChangeAspect="1"/>
          </p:cNvPicPr>
          <p:nvPr/>
        </p:nvPicPr>
        <p:blipFill>
          <a:blip r:embed="rId3"/>
          <a:stretch>
            <a:fillRect/>
          </a:stretch>
        </p:blipFill>
        <p:spPr>
          <a:xfrm>
            <a:off x="6370625" y="1341425"/>
            <a:ext cx="197510" cy="197510"/>
          </a:xfrm>
          <a:prstGeom prst="rect">
            <a:avLst/>
          </a:prstGeom>
        </p:spPr>
      </p:pic>
      <p:sp>
        <p:nvSpPr>
          <p:cNvPr id="17" name="Module title"/>
          <p:cNvSpPr txBox="1"/>
          <p:nvPr/>
        </p:nvSpPr>
        <p:spPr>
          <a:xfrm>
            <a:off x="6784848" y="1234440"/>
            <a:ext cx="1920240" cy="411480"/>
          </a:xfrm>
          <a:prstGeom prst="rect">
            <a:avLst/>
          </a:prstGeom>
          <a:noFill/>
          <a:ln/>
        </p:spPr>
        <p:txBody>
          <a:bodyPr wrap="square" lIns="0" tIns="0" rIns="0" bIns="0" rtlCol="0" anchor="ctr"/>
          <a:lstStyle/>
          <a:p>
            <a:pPr indent="0" marL="0">
              <a:buNone/>
            </a:pPr>
            <a:r>
              <a:rPr lang="en-US" sz="1500" b="1" dirty="0">
                <a:solidFill>
                  <a:schemeClr val="tx2"/>
                </a:solidFill>
              </a:rPr>
              <a:t>Customer account</a:t>
            </a:r>
            <a:endParaRPr lang="en-US" sz="1500" dirty="0"/>
          </a:p>
        </p:txBody>
      </p:sp>
      <p:sp>
        <p:nvSpPr>
          <p:cNvPr id="18" name="Module detail"/>
          <p:cNvSpPr txBox="1"/>
          <p:nvPr/>
        </p:nvSpPr>
        <p:spPr>
          <a:xfrm>
            <a:off x="6263640" y="1737360"/>
            <a:ext cx="2423160" cy="914400"/>
          </a:xfrm>
          <a:prstGeom prst="rect">
            <a:avLst/>
          </a:prstGeom>
          <a:noFill/>
          <a:ln/>
        </p:spPr>
        <p:txBody>
          <a:bodyPr wrap="square" lIns="0" tIns="0" rIns="0" bIns="0" rtlCol="0" anchor="t"/>
          <a:lstStyle/>
          <a:p>
            <a:pPr indent="0" marL="0">
              <a:buNone/>
            </a:pPr>
            <a:r>
              <a:rPr lang="en-US" sz="1300" dirty="0">
                <a:solidFill>
                  <a:schemeClr val="tx1"/>
                </a:solidFill>
              </a:rPr>
              <a:t>Registration and login; hashed passwords and JWT</a:t>
            </a:r>
            <a:endParaRPr lang="en-US" sz="1300" dirty="0"/>
          </a:p>
        </p:txBody>
      </p:sp>
      <p:sp>
        <p:nvSpPr>
          <p:cNvPr id="19" name="Module card"/>
          <p:cNvSpPr/>
          <p:nvPr/>
        </p:nvSpPr>
        <p:spPr>
          <a:xfrm>
            <a:off x="457200" y="2880360"/>
            <a:ext cx="2651760" cy="1645920"/>
          </a:xfrm>
          <a:prstGeom prst="roundRect">
            <a:avLst>
              <a:gd name="adj" fmla="val 5556"/>
            </a:avLst>
          </a:prstGeom>
          <a:solidFill>
            <a:schemeClr val="bg2"/>
          </a:solidFill>
          <a:ln/>
        </p:spPr>
      </p:sp>
      <p:sp>
        <p:nvSpPr>
          <p:cNvPr id="20" name="Checkout and orders circle"/>
          <p:cNvSpPr/>
          <p:nvPr/>
        </p:nvSpPr>
        <p:spPr>
          <a:xfrm>
            <a:off x="594360" y="3017520"/>
            <a:ext cx="411480" cy="411480"/>
          </a:xfrm>
          <a:prstGeom prst="ellipse">
            <a:avLst/>
          </a:prstGeom>
          <a:solidFill>
            <a:srgbClr val="2F8F6B"/>
          </a:solidFill>
          <a:ln/>
        </p:spPr>
      </p:sp>
      <p:pic>
        <p:nvPicPr>
          <p:cNvPr id="21" name="Image 3" descr="Checkout and orders">    </p:cNvPr>
          <p:cNvPicPr>
            <a:picLocks noChangeAspect="1"/>
          </p:cNvPicPr>
          <p:nvPr/>
        </p:nvPicPr>
        <p:blipFill>
          <a:blip r:embed="rId4"/>
          <a:stretch>
            <a:fillRect/>
          </a:stretch>
        </p:blipFill>
        <p:spPr>
          <a:xfrm>
            <a:off x="701345" y="3124505"/>
            <a:ext cx="197510" cy="197510"/>
          </a:xfrm>
          <a:prstGeom prst="rect">
            <a:avLst/>
          </a:prstGeom>
        </p:spPr>
      </p:pic>
      <p:sp>
        <p:nvSpPr>
          <p:cNvPr id="22" name="Module title"/>
          <p:cNvSpPr txBox="1"/>
          <p:nvPr/>
        </p:nvSpPr>
        <p:spPr>
          <a:xfrm>
            <a:off x="1115568" y="3017520"/>
            <a:ext cx="1920240" cy="411480"/>
          </a:xfrm>
          <a:prstGeom prst="rect">
            <a:avLst/>
          </a:prstGeom>
          <a:noFill/>
          <a:ln/>
        </p:spPr>
        <p:txBody>
          <a:bodyPr wrap="square" lIns="0" tIns="0" rIns="0" bIns="0" rtlCol="0" anchor="ctr"/>
          <a:lstStyle/>
          <a:p>
            <a:pPr indent="0" marL="0">
              <a:buNone/>
            </a:pPr>
            <a:r>
              <a:rPr lang="en-US" sz="1500" b="1" dirty="0">
                <a:solidFill>
                  <a:schemeClr val="tx2"/>
                </a:solidFill>
              </a:rPr>
              <a:t>Checkout and orders</a:t>
            </a:r>
            <a:endParaRPr lang="en-US" sz="1500" dirty="0"/>
          </a:p>
        </p:txBody>
      </p:sp>
      <p:sp>
        <p:nvSpPr>
          <p:cNvPr id="23" name="Module detail"/>
          <p:cNvSpPr txBox="1"/>
          <p:nvPr/>
        </p:nvSpPr>
        <p:spPr>
          <a:xfrm>
            <a:off x="594360" y="3520440"/>
            <a:ext cx="2423160" cy="914400"/>
          </a:xfrm>
          <a:prstGeom prst="rect">
            <a:avLst/>
          </a:prstGeom>
          <a:noFill/>
          <a:ln/>
        </p:spPr>
        <p:txBody>
          <a:bodyPr wrap="square" lIns="0" tIns="0" rIns="0" bIns="0" rtlCol="0" anchor="t"/>
          <a:lstStyle/>
          <a:p>
            <a:pPr indent="0" marL="0">
              <a:buNone/>
            </a:pPr>
            <a:r>
              <a:rPr lang="en-US" sz="1300" dirty="0">
                <a:solidFill>
                  <a:schemeClr val="tx1"/>
                </a:solidFill>
              </a:rPr>
              <a:t>Demo checkout saves the order in MongoDB; simulated payment</a:t>
            </a:r>
            <a:endParaRPr lang="en-US" sz="1300" dirty="0"/>
          </a:p>
        </p:txBody>
      </p:sp>
      <p:sp>
        <p:nvSpPr>
          <p:cNvPr id="24" name="Module card"/>
          <p:cNvSpPr/>
          <p:nvPr/>
        </p:nvSpPr>
        <p:spPr>
          <a:xfrm>
            <a:off x="3291840" y="2880360"/>
            <a:ext cx="2651760" cy="1645920"/>
          </a:xfrm>
          <a:prstGeom prst="roundRect">
            <a:avLst>
              <a:gd name="adj" fmla="val 5556"/>
            </a:avLst>
          </a:prstGeom>
          <a:solidFill>
            <a:schemeClr val="bg2"/>
          </a:solidFill>
          <a:ln/>
        </p:spPr>
      </p:sp>
      <p:sp>
        <p:nvSpPr>
          <p:cNvPr id="25" name="Tracking and email circle"/>
          <p:cNvSpPr/>
          <p:nvPr/>
        </p:nvSpPr>
        <p:spPr>
          <a:xfrm>
            <a:off x="3429000" y="3017520"/>
            <a:ext cx="411480" cy="411480"/>
          </a:xfrm>
          <a:prstGeom prst="ellipse">
            <a:avLst/>
          </a:prstGeom>
          <a:solidFill>
            <a:srgbClr val="2F8F6B"/>
          </a:solidFill>
          <a:ln/>
        </p:spPr>
      </p:sp>
      <p:pic>
        <p:nvPicPr>
          <p:cNvPr id="26" name="Image 4" descr="Tracking and email">    </p:cNvPr>
          <p:cNvPicPr>
            <a:picLocks noChangeAspect="1"/>
          </p:cNvPicPr>
          <p:nvPr/>
        </p:nvPicPr>
        <p:blipFill>
          <a:blip r:embed="rId5"/>
          <a:stretch>
            <a:fillRect/>
          </a:stretch>
        </p:blipFill>
        <p:spPr>
          <a:xfrm>
            <a:off x="3535985" y="3124505"/>
            <a:ext cx="197510" cy="197510"/>
          </a:xfrm>
          <a:prstGeom prst="rect">
            <a:avLst/>
          </a:prstGeom>
        </p:spPr>
      </p:pic>
      <p:sp>
        <p:nvSpPr>
          <p:cNvPr id="27" name="Module title"/>
          <p:cNvSpPr txBox="1"/>
          <p:nvPr/>
        </p:nvSpPr>
        <p:spPr>
          <a:xfrm>
            <a:off x="3950208" y="3017520"/>
            <a:ext cx="1920240" cy="411480"/>
          </a:xfrm>
          <a:prstGeom prst="rect">
            <a:avLst/>
          </a:prstGeom>
          <a:noFill/>
          <a:ln/>
        </p:spPr>
        <p:txBody>
          <a:bodyPr wrap="square" lIns="0" tIns="0" rIns="0" bIns="0" rtlCol="0" anchor="ctr"/>
          <a:lstStyle/>
          <a:p>
            <a:pPr indent="0" marL="0">
              <a:buNone/>
            </a:pPr>
            <a:r>
              <a:rPr lang="en-US" sz="1500" b="1" dirty="0">
                <a:solidFill>
                  <a:schemeClr val="tx2"/>
                </a:solidFill>
              </a:rPr>
              <a:t>Tracking and email</a:t>
            </a:r>
            <a:endParaRPr lang="en-US" sz="1500" dirty="0"/>
          </a:p>
        </p:txBody>
      </p:sp>
      <p:sp>
        <p:nvSpPr>
          <p:cNvPr id="28" name="Module detail"/>
          <p:cNvSpPr txBox="1"/>
          <p:nvPr/>
        </p:nvSpPr>
        <p:spPr>
          <a:xfrm>
            <a:off x="3429000" y="3520440"/>
            <a:ext cx="2423160" cy="914400"/>
          </a:xfrm>
          <a:prstGeom prst="rect">
            <a:avLst/>
          </a:prstGeom>
          <a:noFill/>
          <a:ln/>
        </p:spPr>
        <p:txBody>
          <a:bodyPr wrap="square" lIns="0" tIns="0" rIns="0" bIns="0" rtlCol="0" anchor="t"/>
          <a:lstStyle/>
          <a:p>
            <a:pPr indent="0" marL="0">
              <a:buNone/>
            </a:pPr>
            <a:r>
              <a:rPr lang="en-US" sz="1300" dirty="0">
                <a:solidFill>
                  <a:schemeClr val="tx1"/>
                </a:solidFill>
              </a:rPr>
              <a:t>Status timeline in My Orders; confirmation and status emails</a:t>
            </a:r>
            <a:endParaRPr lang="en-US" sz="1300" dirty="0"/>
          </a:p>
        </p:txBody>
      </p:sp>
      <p:sp>
        <p:nvSpPr>
          <p:cNvPr id="29" name="Module card"/>
          <p:cNvSpPr/>
          <p:nvPr/>
        </p:nvSpPr>
        <p:spPr>
          <a:xfrm>
            <a:off x="6126480" y="2880360"/>
            <a:ext cx="2651760" cy="1645920"/>
          </a:xfrm>
          <a:prstGeom prst="roundRect">
            <a:avLst>
              <a:gd name="adj" fmla="val 5556"/>
            </a:avLst>
          </a:prstGeom>
          <a:solidFill>
            <a:schemeClr val="bg2"/>
          </a:solidFill>
          <a:ln/>
        </p:spPr>
      </p:sp>
      <p:sp>
        <p:nvSpPr>
          <p:cNvPr id="30" name="Admin dashboard circle"/>
          <p:cNvSpPr/>
          <p:nvPr/>
        </p:nvSpPr>
        <p:spPr>
          <a:xfrm>
            <a:off x="6263640" y="3017520"/>
            <a:ext cx="411480" cy="411480"/>
          </a:xfrm>
          <a:prstGeom prst="ellipse">
            <a:avLst/>
          </a:prstGeom>
          <a:solidFill>
            <a:srgbClr val="2F8F6B"/>
          </a:solidFill>
          <a:ln/>
        </p:spPr>
      </p:sp>
      <p:pic>
        <p:nvPicPr>
          <p:cNvPr id="31" name="Image 5" descr="Admin dashboard">    </p:cNvPr>
          <p:cNvPicPr>
            <a:picLocks noChangeAspect="1"/>
          </p:cNvPicPr>
          <p:nvPr/>
        </p:nvPicPr>
        <p:blipFill>
          <a:blip r:embed="rId6"/>
          <a:stretch>
            <a:fillRect/>
          </a:stretch>
        </p:blipFill>
        <p:spPr>
          <a:xfrm>
            <a:off x="6370625" y="3124505"/>
            <a:ext cx="197510" cy="197510"/>
          </a:xfrm>
          <a:prstGeom prst="rect">
            <a:avLst/>
          </a:prstGeom>
        </p:spPr>
      </p:pic>
      <p:sp>
        <p:nvSpPr>
          <p:cNvPr id="32" name="Module title"/>
          <p:cNvSpPr txBox="1"/>
          <p:nvPr/>
        </p:nvSpPr>
        <p:spPr>
          <a:xfrm>
            <a:off x="6784848" y="3017520"/>
            <a:ext cx="1920240" cy="411480"/>
          </a:xfrm>
          <a:prstGeom prst="rect">
            <a:avLst/>
          </a:prstGeom>
          <a:noFill/>
          <a:ln/>
        </p:spPr>
        <p:txBody>
          <a:bodyPr wrap="square" lIns="0" tIns="0" rIns="0" bIns="0" rtlCol="0" anchor="ctr"/>
          <a:lstStyle/>
          <a:p>
            <a:pPr indent="0" marL="0">
              <a:buNone/>
            </a:pPr>
            <a:r>
              <a:rPr lang="en-US" sz="1500" b="1" dirty="0">
                <a:solidFill>
                  <a:schemeClr val="tx2"/>
                </a:solidFill>
              </a:rPr>
              <a:t>Admin dashboard</a:t>
            </a:r>
            <a:endParaRPr lang="en-US" sz="1500" dirty="0"/>
          </a:p>
        </p:txBody>
      </p:sp>
      <p:sp>
        <p:nvSpPr>
          <p:cNvPr id="33" name="Module detail"/>
          <p:cNvSpPr txBox="1"/>
          <p:nvPr/>
        </p:nvSpPr>
        <p:spPr>
          <a:xfrm>
            <a:off x="6263640" y="3520440"/>
            <a:ext cx="2423160" cy="914400"/>
          </a:xfrm>
          <a:prstGeom prst="rect">
            <a:avLst/>
          </a:prstGeom>
          <a:noFill/>
          <a:ln/>
        </p:spPr>
        <p:txBody>
          <a:bodyPr wrap="square" lIns="0" tIns="0" rIns="0" bIns="0" rtlCol="0" anchor="t"/>
          <a:lstStyle/>
          <a:p>
            <a:pPr indent="0" marL="0">
              <a:buNone/>
            </a:pPr>
            <a:r>
              <a:rPr lang="en-US" sz="1300" dirty="0">
                <a:solidFill>
                  <a:schemeClr val="tx1"/>
                </a:solidFill>
              </a:rPr>
              <a:t>Sales indicators; product create, update, delete; order status update</a:t>
            </a:r>
            <a:endParaRPr lang="en-US" sz="13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Implementation and algorithm</a:t>
            </a:r>
            <a:endParaRPr lang="en-US" sz="3200" dirty="0"/>
          </a:p>
        </p:txBody>
      </p:sp>
      <p:sp>
        <p:nvSpPr>
          <p:cNvPr id="4" name="Algorithm row"/>
          <p:cNvSpPr/>
          <p:nvPr/>
        </p:nvSpPr>
        <p:spPr>
          <a:xfrm>
            <a:off x="457200" y="1051560"/>
            <a:ext cx="4754880" cy="365760"/>
          </a:xfrm>
          <a:prstGeom prst="roundRect">
            <a:avLst>
              <a:gd name="adj" fmla="val 25000"/>
            </a:avLst>
          </a:prstGeom>
          <a:solidFill>
            <a:schemeClr val="bg2"/>
          </a:solidFill>
          <a:ln/>
        </p:spPr>
      </p:sp>
      <p:sp>
        <p:nvSpPr>
          <p:cNvPr id="5" name="Step circle"/>
          <p:cNvSpPr/>
          <p:nvPr/>
        </p:nvSpPr>
        <p:spPr>
          <a:xfrm>
            <a:off x="530352" y="1097280"/>
            <a:ext cx="274320" cy="274320"/>
          </a:xfrm>
          <a:prstGeom prst="ellipse">
            <a:avLst/>
          </a:prstGeom>
          <a:solidFill>
            <a:schemeClr val="accent2"/>
          </a:solidFill>
          <a:ln/>
        </p:spPr>
      </p:sp>
      <p:sp>
        <p:nvSpPr>
          <p:cNvPr id="6" name="Step number"/>
          <p:cNvSpPr txBox="1"/>
          <p:nvPr/>
        </p:nvSpPr>
        <p:spPr>
          <a:xfrm>
            <a:off x="530352" y="109728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Step text"/>
          <p:cNvSpPr txBox="1"/>
          <p:nvPr/>
        </p:nvSpPr>
        <p:spPr>
          <a:xfrm>
            <a:off x="914400" y="1051560"/>
            <a:ext cx="4206240" cy="365760"/>
          </a:xfrm>
          <a:prstGeom prst="rect">
            <a:avLst/>
          </a:prstGeom>
          <a:noFill/>
          <a:ln/>
        </p:spPr>
        <p:txBody>
          <a:bodyPr wrap="square" lIns="0" tIns="0" rIns="0" bIns="0" rtlCol="0" anchor="ctr"/>
          <a:lstStyle/>
          <a:p>
            <a:pPr indent="0" marL="0">
              <a:buNone/>
            </a:pPr>
            <a:r>
              <a:rPr lang="en-US" sz="1300" dirty="0">
                <a:solidFill>
                  <a:schemeClr val="tx1"/>
                </a:solidFill>
              </a:rPr>
              <a:t>Add to cart; subtotal = price × quantity</a:t>
            </a:r>
            <a:endParaRPr lang="en-US" sz="1300" dirty="0"/>
          </a:p>
        </p:txBody>
      </p:sp>
      <p:sp>
        <p:nvSpPr>
          <p:cNvPr id="8" name="Algorithm row"/>
          <p:cNvSpPr/>
          <p:nvPr/>
        </p:nvSpPr>
        <p:spPr>
          <a:xfrm>
            <a:off x="457200" y="1481328"/>
            <a:ext cx="4754880" cy="365760"/>
          </a:xfrm>
          <a:prstGeom prst="roundRect">
            <a:avLst>
              <a:gd name="adj" fmla="val 25000"/>
            </a:avLst>
          </a:prstGeom>
          <a:solidFill>
            <a:schemeClr val="bg2"/>
          </a:solidFill>
          <a:ln/>
        </p:spPr>
      </p:sp>
      <p:sp>
        <p:nvSpPr>
          <p:cNvPr id="9" name="Step circle"/>
          <p:cNvSpPr/>
          <p:nvPr/>
        </p:nvSpPr>
        <p:spPr>
          <a:xfrm>
            <a:off x="530352" y="1527048"/>
            <a:ext cx="274320" cy="274320"/>
          </a:xfrm>
          <a:prstGeom prst="ellipse">
            <a:avLst/>
          </a:prstGeom>
          <a:solidFill>
            <a:schemeClr val="accent2"/>
          </a:solidFill>
          <a:ln/>
        </p:spPr>
      </p:sp>
      <p:sp>
        <p:nvSpPr>
          <p:cNvPr id="10" name="Step number"/>
          <p:cNvSpPr txBox="1"/>
          <p:nvPr/>
        </p:nvSpPr>
        <p:spPr>
          <a:xfrm>
            <a:off x="530352" y="152704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Step text"/>
          <p:cNvSpPr txBox="1"/>
          <p:nvPr/>
        </p:nvSpPr>
        <p:spPr>
          <a:xfrm>
            <a:off x="914400" y="1481328"/>
            <a:ext cx="4206240" cy="365760"/>
          </a:xfrm>
          <a:prstGeom prst="rect">
            <a:avLst/>
          </a:prstGeom>
          <a:noFill/>
          <a:ln/>
        </p:spPr>
        <p:txBody>
          <a:bodyPr wrap="square" lIns="0" tIns="0" rIns="0" bIns="0" rtlCol="0" anchor="ctr"/>
          <a:lstStyle/>
          <a:p>
            <a:pPr indent="0" marL="0">
              <a:buNone/>
            </a:pPr>
            <a:r>
              <a:rPr lang="en-US" sz="1300" dirty="0">
                <a:solidFill>
                  <a:schemeClr val="tx1"/>
                </a:solidFill>
              </a:rPr>
              <a:t>Checkout: name, email, address</a:t>
            </a:r>
            <a:endParaRPr lang="en-US" sz="1300" dirty="0"/>
          </a:p>
        </p:txBody>
      </p:sp>
      <p:sp>
        <p:nvSpPr>
          <p:cNvPr id="12" name="Algorithm row"/>
          <p:cNvSpPr/>
          <p:nvPr/>
        </p:nvSpPr>
        <p:spPr>
          <a:xfrm>
            <a:off x="457200" y="1911096"/>
            <a:ext cx="4754880" cy="365760"/>
          </a:xfrm>
          <a:prstGeom prst="roundRect">
            <a:avLst>
              <a:gd name="adj" fmla="val 25000"/>
            </a:avLst>
          </a:prstGeom>
          <a:solidFill>
            <a:schemeClr val="bg2"/>
          </a:solidFill>
          <a:ln/>
        </p:spPr>
      </p:sp>
      <p:sp>
        <p:nvSpPr>
          <p:cNvPr id="13" name="Step circle"/>
          <p:cNvSpPr/>
          <p:nvPr/>
        </p:nvSpPr>
        <p:spPr>
          <a:xfrm>
            <a:off x="530352" y="1956816"/>
            <a:ext cx="274320" cy="274320"/>
          </a:xfrm>
          <a:prstGeom prst="ellipse">
            <a:avLst/>
          </a:prstGeom>
          <a:solidFill>
            <a:schemeClr val="accent2"/>
          </a:solidFill>
          <a:ln/>
        </p:spPr>
      </p:sp>
      <p:sp>
        <p:nvSpPr>
          <p:cNvPr id="14" name="Step number"/>
          <p:cNvSpPr txBox="1"/>
          <p:nvPr/>
        </p:nvSpPr>
        <p:spPr>
          <a:xfrm>
            <a:off x="530352" y="1956816"/>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Step text"/>
          <p:cNvSpPr txBox="1"/>
          <p:nvPr/>
        </p:nvSpPr>
        <p:spPr>
          <a:xfrm>
            <a:off x="914400" y="1911096"/>
            <a:ext cx="4206240" cy="365760"/>
          </a:xfrm>
          <a:prstGeom prst="rect">
            <a:avLst/>
          </a:prstGeom>
          <a:noFill/>
          <a:ln/>
        </p:spPr>
        <p:txBody>
          <a:bodyPr wrap="square" lIns="0" tIns="0" rIns="0" bIns="0" rtlCol="0" anchor="ctr"/>
          <a:lstStyle/>
          <a:p>
            <a:pPr indent="0" marL="0">
              <a:buNone/>
            </a:pPr>
            <a:r>
              <a:rPr lang="en-US" sz="1300" dirty="0">
                <a:solidFill>
                  <a:schemeClr val="tx1"/>
                </a:solidFill>
              </a:rPr>
              <a:t>Client sends items to POST /api/orders</a:t>
            </a:r>
            <a:endParaRPr lang="en-US" sz="1300" dirty="0"/>
          </a:p>
        </p:txBody>
      </p:sp>
      <p:sp>
        <p:nvSpPr>
          <p:cNvPr id="16" name="Algorithm row"/>
          <p:cNvSpPr/>
          <p:nvPr/>
        </p:nvSpPr>
        <p:spPr>
          <a:xfrm>
            <a:off x="457200" y="2340864"/>
            <a:ext cx="4754880" cy="365760"/>
          </a:xfrm>
          <a:prstGeom prst="roundRect">
            <a:avLst>
              <a:gd name="adj" fmla="val 25000"/>
            </a:avLst>
          </a:prstGeom>
          <a:solidFill>
            <a:schemeClr val="bg2"/>
          </a:solidFill>
          <a:ln/>
        </p:spPr>
      </p:sp>
      <p:sp>
        <p:nvSpPr>
          <p:cNvPr id="17" name="Step circle"/>
          <p:cNvSpPr/>
          <p:nvPr/>
        </p:nvSpPr>
        <p:spPr>
          <a:xfrm>
            <a:off x="530352" y="2386584"/>
            <a:ext cx="274320" cy="274320"/>
          </a:xfrm>
          <a:prstGeom prst="ellipse">
            <a:avLst/>
          </a:prstGeom>
          <a:solidFill>
            <a:schemeClr val="accent2"/>
          </a:solidFill>
          <a:ln/>
        </p:spPr>
      </p:sp>
      <p:sp>
        <p:nvSpPr>
          <p:cNvPr id="18" name="Step number"/>
          <p:cNvSpPr txBox="1"/>
          <p:nvPr/>
        </p:nvSpPr>
        <p:spPr>
          <a:xfrm>
            <a:off x="530352" y="238658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9" name="Step text"/>
          <p:cNvSpPr txBox="1"/>
          <p:nvPr/>
        </p:nvSpPr>
        <p:spPr>
          <a:xfrm>
            <a:off x="914400" y="2340864"/>
            <a:ext cx="4206240" cy="365760"/>
          </a:xfrm>
          <a:prstGeom prst="rect">
            <a:avLst/>
          </a:prstGeom>
          <a:noFill/>
          <a:ln/>
        </p:spPr>
        <p:txBody>
          <a:bodyPr wrap="square" lIns="0" tIns="0" rIns="0" bIns="0" rtlCol="0" anchor="ctr"/>
          <a:lstStyle/>
          <a:p>
            <a:pPr indent="0" marL="0">
              <a:buNone/>
            </a:pPr>
            <a:r>
              <a:rPr lang="en-US" sz="1300" dirty="0">
                <a:solidFill>
                  <a:schemeClr val="tx1"/>
                </a:solidFill>
              </a:rPr>
              <a:t>Server calculates total from stored prices</a:t>
            </a:r>
            <a:endParaRPr lang="en-US" sz="1300" dirty="0"/>
          </a:p>
        </p:txBody>
      </p:sp>
      <p:sp>
        <p:nvSpPr>
          <p:cNvPr id="20" name="Algorithm row"/>
          <p:cNvSpPr/>
          <p:nvPr/>
        </p:nvSpPr>
        <p:spPr>
          <a:xfrm>
            <a:off x="457200" y="2770632"/>
            <a:ext cx="4754880" cy="365760"/>
          </a:xfrm>
          <a:prstGeom prst="roundRect">
            <a:avLst>
              <a:gd name="adj" fmla="val 25000"/>
            </a:avLst>
          </a:prstGeom>
          <a:solidFill>
            <a:schemeClr val="bg2"/>
          </a:solidFill>
          <a:ln/>
        </p:spPr>
      </p:sp>
      <p:sp>
        <p:nvSpPr>
          <p:cNvPr id="21" name="Step circle"/>
          <p:cNvSpPr/>
          <p:nvPr/>
        </p:nvSpPr>
        <p:spPr>
          <a:xfrm>
            <a:off x="530352" y="2816352"/>
            <a:ext cx="274320" cy="274320"/>
          </a:xfrm>
          <a:prstGeom prst="ellipse">
            <a:avLst/>
          </a:prstGeom>
          <a:solidFill>
            <a:schemeClr val="accent2"/>
          </a:solidFill>
          <a:ln/>
        </p:spPr>
      </p:sp>
      <p:sp>
        <p:nvSpPr>
          <p:cNvPr id="22" name="Step number"/>
          <p:cNvSpPr txBox="1"/>
          <p:nvPr/>
        </p:nvSpPr>
        <p:spPr>
          <a:xfrm>
            <a:off x="530352" y="2816352"/>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3" name="Step text"/>
          <p:cNvSpPr txBox="1"/>
          <p:nvPr/>
        </p:nvSpPr>
        <p:spPr>
          <a:xfrm>
            <a:off x="914400" y="2770632"/>
            <a:ext cx="4206240" cy="365760"/>
          </a:xfrm>
          <a:prstGeom prst="rect">
            <a:avLst/>
          </a:prstGeom>
          <a:noFill/>
          <a:ln/>
        </p:spPr>
        <p:txBody>
          <a:bodyPr wrap="square" lIns="0" tIns="0" rIns="0" bIns="0" rtlCol="0" anchor="ctr"/>
          <a:lstStyle/>
          <a:p>
            <a:pPr indent="0" marL="0">
              <a:buNone/>
            </a:pPr>
            <a:r>
              <a:rPr lang="en-US" sz="1300" dirty="0">
                <a:solidFill>
                  <a:schemeClr val="tx1"/>
                </a:solidFill>
              </a:rPr>
              <a:t>Order saved: Placed, payment Pending</a:t>
            </a:r>
            <a:endParaRPr lang="en-US" sz="1300" dirty="0"/>
          </a:p>
        </p:txBody>
      </p:sp>
      <p:sp>
        <p:nvSpPr>
          <p:cNvPr id="24" name="Algorithm row"/>
          <p:cNvSpPr/>
          <p:nvPr/>
        </p:nvSpPr>
        <p:spPr>
          <a:xfrm>
            <a:off x="457200" y="3200400"/>
            <a:ext cx="4754880" cy="365760"/>
          </a:xfrm>
          <a:prstGeom prst="roundRect">
            <a:avLst>
              <a:gd name="adj" fmla="val 25000"/>
            </a:avLst>
          </a:prstGeom>
          <a:solidFill>
            <a:schemeClr val="bg2"/>
          </a:solidFill>
          <a:ln/>
        </p:spPr>
      </p:sp>
      <p:sp>
        <p:nvSpPr>
          <p:cNvPr id="25" name="Step circle"/>
          <p:cNvSpPr/>
          <p:nvPr/>
        </p:nvSpPr>
        <p:spPr>
          <a:xfrm>
            <a:off x="530352" y="3246120"/>
            <a:ext cx="274320" cy="274320"/>
          </a:xfrm>
          <a:prstGeom prst="ellipse">
            <a:avLst/>
          </a:prstGeom>
          <a:solidFill>
            <a:schemeClr val="accent2"/>
          </a:solidFill>
          <a:ln/>
        </p:spPr>
      </p:sp>
      <p:sp>
        <p:nvSpPr>
          <p:cNvPr id="26" name="Step number"/>
          <p:cNvSpPr txBox="1"/>
          <p:nvPr/>
        </p:nvSpPr>
        <p:spPr>
          <a:xfrm>
            <a:off x="530352" y="3246120"/>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7" name="Step text"/>
          <p:cNvSpPr txBox="1"/>
          <p:nvPr/>
        </p:nvSpPr>
        <p:spPr>
          <a:xfrm>
            <a:off x="914400" y="3200400"/>
            <a:ext cx="4206240" cy="365760"/>
          </a:xfrm>
          <a:prstGeom prst="rect">
            <a:avLst/>
          </a:prstGeom>
          <a:noFill/>
          <a:ln/>
        </p:spPr>
        <p:txBody>
          <a:bodyPr wrap="square" lIns="0" tIns="0" rIns="0" bIns="0" rtlCol="0" anchor="ctr"/>
          <a:lstStyle/>
          <a:p>
            <a:pPr indent="0" marL="0">
              <a:buNone/>
            </a:pPr>
            <a:r>
              <a:rPr lang="en-US" sz="1300" dirty="0">
                <a:solidFill>
                  <a:schemeClr val="tx1"/>
                </a:solidFill>
              </a:rPr>
              <a:t>Confirmation email sent</a:t>
            </a:r>
            <a:endParaRPr lang="en-US" sz="1300" dirty="0"/>
          </a:p>
        </p:txBody>
      </p:sp>
      <p:sp>
        <p:nvSpPr>
          <p:cNvPr id="28" name="Algorithm row"/>
          <p:cNvSpPr/>
          <p:nvPr/>
        </p:nvSpPr>
        <p:spPr>
          <a:xfrm>
            <a:off x="457200" y="3630168"/>
            <a:ext cx="4754880" cy="365760"/>
          </a:xfrm>
          <a:prstGeom prst="roundRect">
            <a:avLst>
              <a:gd name="adj" fmla="val 25000"/>
            </a:avLst>
          </a:prstGeom>
          <a:solidFill>
            <a:schemeClr val="bg2"/>
          </a:solidFill>
          <a:ln/>
        </p:spPr>
      </p:sp>
      <p:sp>
        <p:nvSpPr>
          <p:cNvPr id="29" name="Step circle"/>
          <p:cNvSpPr/>
          <p:nvPr/>
        </p:nvSpPr>
        <p:spPr>
          <a:xfrm>
            <a:off x="530352" y="3675888"/>
            <a:ext cx="274320" cy="274320"/>
          </a:xfrm>
          <a:prstGeom prst="ellipse">
            <a:avLst/>
          </a:prstGeom>
          <a:solidFill>
            <a:schemeClr val="accent2"/>
          </a:solidFill>
          <a:ln/>
        </p:spPr>
      </p:sp>
      <p:sp>
        <p:nvSpPr>
          <p:cNvPr id="30" name="Step number"/>
          <p:cNvSpPr txBox="1"/>
          <p:nvPr/>
        </p:nvSpPr>
        <p:spPr>
          <a:xfrm>
            <a:off x="530352" y="367588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31" name="Step text"/>
          <p:cNvSpPr txBox="1"/>
          <p:nvPr/>
        </p:nvSpPr>
        <p:spPr>
          <a:xfrm>
            <a:off x="914400" y="3630168"/>
            <a:ext cx="4206240" cy="365760"/>
          </a:xfrm>
          <a:prstGeom prst="rect">
            <a:avLst/>
          </a:prstGeom>
          <a:noFill/>
          <a:ln/>
        </p:spPr>
        <p:txBody>
          <a:bodyPr wrap="square" lIns="0" tIns="0" rIns="0" bIns="0" rtlCol="0" anchor="ctr"/>
          <a:lstStyle/>
          <a:p>
            <a:pPr indent="0" marL="0">
              <a:buNone/>
            </a:pPr>
            <a:r>
              <a:rPr lang="en-US" sz="1300" dirty="0">
                <a:solidFill>
                  <a:schemeClr val="tx1"/>
                </a:solidFill>
              </a:rPr>
              <a:t>Payment simulation: Pending to Paid</a:t>
            </a:r>
            <a:endParaRPr lang="en-US" sz="1300" dirty="0"/>
          </a:p>
        </p:txBody>
      </p:sp>
      <p:sp>
        <p:nvSpPr>
          <p:cNvPr id="32" name="Algorithm row"/>
          <p:cNvSpPr/>
          <p:nvPr/>
        </p:nvSpPr>
        <p:spPr>
          <a:xfrm>
            <a:off x="457200" y="4059936"/>
            <a:ext cx="4754880" cy="365760"/>
          </a:xfrm>
          <a:prstGeom prst="roundRect">
            <a:avLst>
              <a:gd name="adj" fmla="val 25000"/>
            </a:avLst>
          </a:prstGeom>
          <a:solidFill>
            <a:schemeClr val="bg2"/>
          </a:solidFill>
          <a:ln/>
        </p:spPr>
      </p:sp>
      <p:sp>
        <p:nvSpPr>
          <p:cNvPr id="33" name="Step circle"/>
          <p:cNvSpPr/>
          <p:nvPr/>
        </p:nvSpPr>
        <p:spPr>
          <a:xfrm>
            <a:off x="530352" y="4105656"/>
            <a:ext cx="274320" cy="274320"/>
          </a:xfrm>
          <a:prstGeom prst="ellipse">
            <a:avLst/>
          </a:prstGeom>
          <a:solidFill>
            <a:schemeClr val="accent2"/>
          </a:solidFill>
          <a:ln/>
        </p:spPr>
      </p:sp>
      <p:sp>
        <p:nvSpPr>
          <p:cNvPr id="34" name="Step number"/>
          <p:cNvSpPr txBox="1"/>
          <p:nvPr/>
        </p:nvSpPr>
        <p:spPr>
          <a:xfrm>
            <a:off x="530352" y="4105656"/>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35" name="Step text"/>
          <p:cNvSpPr txBox="1"/>
          <p:nvPr/>
        </p:nvSpPr>
        <p:spPr>
          <a:xfrm>
            <a:off x="914400" y="4059936"/>
            <a:ext cx="4206240" cy="365760"/>
          </a:xfrm>
          <a:prstGeom prst="rect">
            <a:avLst/>
          </a:prstGeom>
          <a:noFill/>
          <a:ln/>
        </p:spPr>
        <p:txBody>
          <a:bodyPr wrap="square" lIns="0" tIns="0" rIns="0" bIns="0" rtlCol="0" anchor="ctr"/>
          <a:lstStyle/>
          <a:p>
            <a:pPr indent="0" marL="0">
              <a:buNone/>
            </a:pPr>
            <a:r>
              <a:rPr lang="en-US" sz="1300" dirty="0">
                <a:solidFill>
                  <a:schemeClr val="tx1"/>
                </a:solidFill>
              </a:rPr>
              <a:t>Admin updates status; customer emailed</a:t>
            </a:r>
            <a:endParaRPr lang="en-US" sz="1300" dirty="0"/>
          </a:p>
        </p:txBody>
      </p:sp>
      <p:sp>
        <p:nvSpPr>
          <p:cNvPr id="36" name="Logic card"/>
          <p:cNvSpPr/>
          <p:nvPr/>
        </p:nvSpPr>
        <p:spPr>
          <a:xfrm>
            <a:off x="5486400" y="1051560"/>
            <a:ext cx="3200400" cy="749808"/>
          </a:xfrm>
          <a:prstGeom prst="roundRect">
            <a:avLst>
              <a:gd name="adj" fmla="val 12195"/>
            </a:avLst>
          </a:prstGeom>
          <a:solidFill>
            <a:schemeClr val="tx2"/>
          </a:solidFill>
          <a:ln/>
        </p:spPr>
      </p:sp>
      <p:sp>
        <p:nvSpPr>
          <p:cNvPr id="37" name="Server-side total circle"/>
          <p:cNvSpPr/>
          <p:nvPr/>
        </p:nvSpPr>
        <p:spPr>
          <a:xfrm>
            <a:off x="5596128" y="1207008"/>
            <a:ext cx="438912" cy="438912"/>
          </a:xfrm>
          <a:prstGeom prst="ellipse">
            <a:avLst/>
          </a:prstGeom>
          <a:solidFill>
            <a:srgbClr val="E2A03A"/>
          </a:solidFill>
          <a:ln/>
        </p:spPr>
      </p:sp>
      <p:pic>
        <p:nvPicPr>
          <p:cNvPr id="38" name="Image 0" descr="Server-side total">    </p:cNvPr>
          <p:cNvPicPr>
            <a:picLocks noChangeAspect="1"/>
          </p:cNvPicPr>
          <p:nvPr/>
        </p:nvPicPr>
        <p:blipFill>
          <a:blip r:embed="rId1"/>
          <a:stretch>
            <a:fillRect/>
          </a:stretch>
        </p:blipFill>
        <p:spPr>
          <a:xfrm>
            <a:off x="5710245" y="1321125"/>
            <a:ext cx="210678" cy="210678"/>
          </a:xfrm>
          <a:prstGeom prst="rect">
            <a:avLst/>
          </a:prstGeom>
        </p:spPr>
      </p:pic>
      <p:sp>
        <p:nvSpPr>
          <p:cNvPr id="39" name="Logic title"/>
          <p:cNvSpPr txBox="1"/>
          <p:nvPr/>
        </p:nvSpPr>
        <p:spPr>
          <a:xfrm>
            <a:off x="6144768" y="1106424"/>
            <a:ext cx="2468880" cy="256032"/>
          </a:xfrm>
          <a:prstGeom prst="rect">
            <a:avLst/>
          </a:prstGeom>
          <a:noFill/>
          <a:ln/>
        </p:spPr>
        <p:txBody>
          <a:bodyPr wrap="square" lIns="0" tIns="0" rIns="0" bIns="0" rtlCol="0" anchor="ctr"/>
          <a:lstStyle/>
          <a:p>
            <a:pPr indent="0" marL="0">
              <a:buNone/>
            </a:pPr>
            <a:r>
              <a:rPr lang="en-US" sz="1400" b="1" dirty="0">
                <a:solidFill>
                  <a:schemeClr val="accent3"/>
                </a:solidFill>
              </a:rPr>
              <a:t>Server-side total</a:t>
            </a:r>
            <a:endParaRPr lang="en-US" sz="1400" dirty="0"/>
          </a:p>
        </p:txBody>
      </p:sp>
      <p:sp>
        <p:nvSpPr>
          <p:cNvPr id="40" name="Logic detail"/>
          <p:cNvSpPr txBox="1"/>
          <p:nvPr/>
        </p:nvSpPr>
        <p:spPr>
          <a:xfrm>
            <a:off x="6144768" y="1362456"/>
            <a:ext cx="2468880" cy="411480"/>
          </a:xfrm>
          <a:prstGeom prst="rect">
            <a:avLst/>
          </a:prstGeom>
          <a:noFill/>
          <a:ln/>
        </p:spPr>
        <p:txBody>
          <a:bodyPr wrap="square" lIns="0" tIns="0" rIns="0" bIns="0" rtlCol="0" anchor="t"/>
          <a:lstStyle/>
          <a:p>
            <a:pPr indent="0" marL="0">
              <a:buNone/>
            </a:pPr>
            <a:r>
              <a:rPr lang="en-US" sz="1200" dirty="0">
                <a:solidFill>
                  <a:schemeClr val="bg1"/>
                </a:solidFill>
              </a:rPr>
              <a:t>Prices come from the database, not the client</a:t>
            </a:r>
            <a:endParaRPr lang="en-US" sz="1200" dirty="0"/>
          </a:p>
        </p:txBody>
      </p:sp>
      <p:sp>
        <p:nvSpPr>
          <p:cNvPr id="41" name="Logic card"/>
          <p:cNvSpPr/>
          <p:nvPr/>
        </p:nvSpPr>
        <p:spPr>
          <a:xfrm>
            <a:off x="5486400" y="1911096"/>
            <a:ext cx="3200400" cy="749808"/>
          </a:xfrm>
          <a:prstGeom prst="roundRect">
            <a:avLst>
              <a:gd name="adj" fmla="val 12195"/>
            </a:avLst>
          </a:prstGeom>
          <a:solidFill>
            <a:schemeClr val="tx2"/>
          </a:solidFill>
          <a:ln/>
        </p:spPr>
      </p:sp>
      <p:sp>
        <p:nvSpPr>
          <p:cNvPr id="42" name="Status history circle"/>
          <p:cNvSpPr/>
          <p:nvPr/>
        </p:nvSpPr>
        <p:spPr>
          <a:xfrm>
            <a:off x="5596128" y="2066544"/>
            <a:ext cx="438912" cy="438912"/>
          </a:xfrm>
          <a:prstGeom prst="ellipse">
            <a:avLst/>
          </a:prstGeom>
          <a:solidFill>
            <a:srgbClr val="E2A03A"/>
          </a:solidFill>
          <a:ln/>
        </p:spPr>
      </p:sp>
      <p:pic>
        <p:nvPicPr>
          <p:cNvPr id="43" name="Image 1" descr="Status history">    </p:cNvPr>
          <p:cNvPicPr>
            <a:picLocks noChangeAspect="1"/>
          </p:cNvPicPr>
          <p:nvPr/>
        </p:nvPicPr>
        <p:blipFill>
          <a:blip r:embed="rId2"/>
          <a:stretch>
            <a:fillRect/>
          </a:stretch>
        </p:blipFill>
        <p:spPr>
          <a:xfrm>
            <a:off x="5710245" y="2180661"/>
            <a:ext cx="210678" cy="210678"/>
          </a:xfrm>
          <a:prstGeom prst="rect">
            <a:avLst/>
          </a:prstGeom>
        </p:spPr>
      </p:pic>
      <p:sp>
        <p:nvSpPr>
          <p:cNvPr id="44" name="Logic title"/>
          <p:cNvSpPr txBox="1"/>
          <p:nvPr/>
        </p:nvSpPr>
        <p:spPr>
          <a:xfrm>
            <a:off x="6144768" y="1965960"/>
            <a:ext cx="2468880" cy="256032"/>
          </a:xfrm>
          <a:prstGeom prst="rect">
            <a:avLst/>
          </a:prstGeom>
          <a:noFill/>
          <a:ln/>
        </p:spPr>
        <p:txBody>
          <a:bodyPr wrap="square" lIns="0" tIns="0" rIns="0" bIns="0" rtlCol="0" anchor="ctr"/>
          <a:lstStyle/>
          <a:p>
            <a:pPr indent="0" marL="0">
              <a:buNone/>
            </a:pPr>
            <a:r>
              <a:rPr lang="en-US" sz="1400" b="1" dirty="0">
                <a:solidFill>
                  <a:schemeClr val="accent3"/>
                </a:solidFill>
              </a:rPr>
              <a:t>Status history</a:t>
            </a:r>
            <a:endParaRPr lang="en-US" sz="1400" dirty="0"/>
          </a:p>
        </p:txBody>
      </p:sp>
      <p:sp>
        <p:nvSpPr>
          <p:cNvPr id="45" name="Logic detail"/>
          <p:cNvSpPr txBox="1"/>
          <p:nvPr/>
        </p:nvSpPr>
        <p:spPr>
          <a:xfrm>
            <a:off x="6144768" y="2221992"/>
            <a:ext cx="2468880" cy="411480"/>
          </a:xfrm>
          <a:prstGeom prst="rect">
            <a:avLst/>
          </a:prstGeom>
          <a:noFill/>
          <a:ln/>
        </p:spPr>
        <p:txBody>
          <a:bodyPr wrap="square" lIns="0" tIns="0" rIns="0" bIns="0" rtlCol="0" anchor="t"/>
          <a:lstStyle/>
          <a:p>
            <a:pPr indent="0" marL="0">
              <a:buNone/>
            </a:pPr>
            <a:r>
              <a:rPr lang="en-US" sz="1200" dirty="0">
                <a:solidFill>
                  <a:schemeClr val="bg1"/>
                </a:solidFill>
              </a:rPr>
              <a:t>Each change saved with date and time; drives the timeline</a:t>
            </a:r>
            <a:endParaRPr lang="en-US" sz="1200" dirty="0"/>
          </a:p>
        </p:txBody>
      </p:sp>
      <p:sp>
        <p:nvSpPr>
          <p:cNvPr id="46" name="Logic card"/>
          <p:cNvSpPr/>
          <p:nvPr/>
        </p:nvSpPr>
        <p:spPr>
          <a:xfrm>
            <a:off x="5486400" y="2770632"/>
            <a:ext cx="3200400" cy="749808"/>
          </a:xfrm>
          <a:prstGeom prst="roundRect">
            <a:avLst>
              <a:gd name="adj" fmla="val 12195"/>
            </a:avLst>
          </a:prstGeom>
          <a:solidFill>
            <a:schemeClr val="tx2"/>
          </a:solidFill>
          <a:ln/>
        </p:spPr>
      </p:sp>
      <p:sp>
        <p:nvSpPr>
          <p:cNvPr id="47" name="JWT and authorization circle"/>
          <p:cNvSpPr/>
          <p:nvPr/>
        </p:nvSpPr>
        <p:spPr>
          <a:xfrm>
            <a:off x="5596128" y="2926080"/>
            <a:ext cx="438912" cy="438912"/>
          </a:xfrm>
          <a:prstGeom prst="ellipse">
            <a:avLst/>
          </a:prstGeom>
          <a:solidFill>
            <a:srgbClr val="E2A03A"/>
          </a:solidFill>
          <a:ln/>
        </p:spPr>
      </p:sp>
      <p:pic>
        <p:nvPicPr>
          <p:cNvPr id="48" name="Image 2" descr="JWT and authorization">    </p:cNvPr>
          <p:cNvPicPr>
            <a:picLocks noChangeAspect="1"/>
          </p:cNvPicPr>
          <p:nvPr/>
        </p:nvPicPr>
        <p:blipFill>
          <a:blip r:embed="rId3"/>
          <a:stretch>
            <a:fillRect/>
          </a:stretch>
        </p:blipFill>
        <p:spPr>
          <a:xfrm>
            <a:off x="5710245" y="3040197"/>
            <a:ext cx="210678" cy="210678"/>
          </a:xfrm>
          <a:prstGeom prst="rect">
            <a:avLst/>
          </a:prstGeom>
        </p:spPr>
      </p:pic>
      <p:sp>
        <p:nvSpPr>
          <p:cNvPr id="49" name="Logic title"/>
          <p:cNvSpPr txBox="1"/>
          <p:nvPr/>
        </p:nvSpPr>
        <p:spPr>
          <a:xfrm>
            <a:off x="6144768" y="2825496"/>
            <a:ext cx="2468880" cy="256032"/>
          </a:xfrm>
          <a:prstGeom prst="rect">
            <a:avLst/>
          </a:prstGeom>
          <a:noFill/>
          <a:ln/>
        </p:spPr>
        <p:txBody>
          <a:bodyPr wrap="square" lIns="0" tIns="0" rIns="0" bIns="0" rtlCol="0" anchor="ctr"/>
          <a:lstStyle/>
          <a:p>
            <a:pPr indent="0" marL="0">
              <a:buNone/>
            </a:pPr>
            <a:r>
              <a:rPr lang="en-US" sz="1400" b="1" dirty="0">
                <a:solidFill>
                  <a:schemeClr val="accent3"/>
                </a:solidFill>
              </a:rPr>
              <a:t>JWT and authorization</a:t>
            </a:r>
            <a:endParaRPr lang="en-US" sz="1400" dirty="0"/>
          </a:p>
        </p:txBody>
      </p:sp>
      <p:sp>
        <p:nvSpPr>
          <p:cNvPr id="50" name="Logic detail"/>
          <p:cNvSpPr txBox="1"/>
          <p:nvPr/>
        </p:nvSpPr>
        <p:spPr>
          <a:xfrm>
            <a:off x="6144768" y="3081528"/>
            <a:ext cx="2468880" cy="411480"/>
          </a:xfrm>
          <a:prstGeom prst="rect">
            <a:avLst/>
          </a:prstGeom>
          <a:noFill/>
          <a:ln/>
        </p:spPr>
        <p:txBody>
          <a:bodyPr wrap="square" lIns="0" tIns="0" rIns="0" bIns="0" rtlCol="0" anchor="t"/>
          <a:lstStyle/>
          <a:p>
            <a:pPr indent="0" marL="0">
              <a:buNone/>
            </a:pPr>
            <a:r>
              <a:rPr lang="en-US" sz="1200" dirty="0">
                <a:solidFill>
                  <a:schemeClr val="bg1"/>
                </a:solidFill>
              </a:rPr>
              <a:t>Admin routes protected on the server</a:t>
            </a:r>
            <a:endParaRPr lang="en-US" sz="1200" dirty="0"/>
          </a:p>
        </p:txBody>
      </p:sp>
      <p:sp>
        <p:nvSpPr>
          <p:cNvPr id="51" name="Logic card"/>
          <p:cNvSpPr/>
          <p:nvPr/>
        </p:nvSpPr>
        <p:spPr>
          <a:xfrm>
            <a:off x="5486400" y="3630168"/>
            <a:ext cx="3200400" cy="749808"/>
          </a:xfrm>
          <a:prstGeom prst="roundRect">
            <a:avLst>
              <a:gd name="adj" fmla="val 12195"/>
            </a:avLst>
          </a:prstGeom>
          <a:solidFill>
            <a:schemeClr val="tx2"/>
          </a:solidFill>
          <a:ln/>
        </p:spPr>
      </p:sp>
      <p:sp>
        <p:nvSpPr>
          <p:cNvPr id="52" name="Safe emails circle"/>
          <p:cNvSpPr/>
          <p:nvPr/>
        </p:nvSpPr>
        <p:spPr>
          <a:xfrm>
            <a:off x="5596128" y="3785616"/>
            <a:ext cx="438912" cy="438912"/>
          </a:xfrm>
          <a:prstGeom prst="ellipse">
            <a:avLst/>
          </a:prstGeom>
          <a:solidFill>
            <a:srgbClr val="E2A03A"/>
          </a:solidFill>
          <a:ln/>
        </p:spPr>
      </p:sp>
      <p:pic>
        <p:nvPicPr>
          <p:cNvPr id="53" name="Image 3" descr="Safe emails">    </p:cNvPr>
          <p:cNvPicPr>
            <a:picLocks noChangeAspect="1"/>
          </p:cNvPicPr>
          <p:nvPr/>
        </p:nvPicPr>
        <p:blipFill>
          <a:blip r:embed="rId4"/>
          <a:stretch>
            <a:fillRect/>
          </a:stretch>
        </p:blipFill>
        <p:spPr>
          <a:xfrm>
            <a:off x="5710245" y="3899733"/>
            <a:ext cx="210678" cy="210678"/>
          </a:xfrm>
          <a:prstGeom prst="rect">
            <a:avLst/>
          </a:prstGeom>
        </p:spPr>
      </p:pic>
      <p:sp>
        <p:nvSpPr>
          <p:cNvPr id="54" name="Logic title"/>
          <p:cNvSpPr txBox="1"/>
          <p:nvPr/>
        </p:nvSpPr>
        <p:spPr>
          <a:xfrm>
            <a:off x="6144768" y="3685032"/>
            <a:ext cx="2468880" cy="256032"/>
          </a:xfrm>
          <a:prstGeom prst="rect">
            <a:avLst/>
          </a:prstGeom>
          <a:noFill/>
          <a:ln/>
        </p:spPr>
        <p:txBody>
          <a:bodyPr wrap="square" lIns="0" tIns="0" rIns="0" bIns="0" rtlCol="0" anchor="ctr"/>
          <a:lstStyle/>
          <a:p>
            <a:pPr indent="0" marL="0">
              <a:buNone/>
            </a:pPr>
            <a:r>
              <a:rPr lang="en-US" sz="1400" b="1" dirty="0">
                <a:solidFill>
                  <a:schemeClr val="accent3"/>
                </a:solidFill>
              </a:rPr>
              <a:t>Safe emails</a:t>
            </a:r>
            <a:endParaRPr lang="en-US" sz="1400" dirty="0"/>
          </a:p>
        </p:txBody>
      </p:sp>
      <p:sp>
        <p:nvSpPr>
          <p:cNvPr id="55" name="Logic detail"/>
          <p:cNvSpPr txBox="1"/>
          <p:nvPr/>
        </p:nvSpPr>
        <p:spPr>
          <a:xfrm>
            <a:off x="6144768" y="3941064"/>
            <a:ext cx="2468880" cy="411480"/>
          </a:xfrm>
          <a:prstGeom prst="rect">
            <a:avLst/>
          </a:prstGeom>
          <a:noFill/>
          <a:ln/>
        </p:spPr>
        <p:txBody>
          <a:bodyPr wrap="square" lIns="0" tIns="0" rIns="0" bIns="0" rtlCol="0" anchor="t"/>
          <a:lstStyle/>
          <a:p>
            <a:pPr indent="0" marL="0">
              <a:buNone/>
            </a:pPr>
            <a:r>
              <a:rPr lang="en-US" sz="1200" dirty="0">
                <a:solidFill>
                  <a:schemeClr val="bg1"/>
                </a:solidFill>
              </a:rPr>
              <a:t>If an email fails, the order is still saved</a:t>
            </a:r>
            <a:endParaRPr lang="en-US" sz="12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Snapshots of output</a:t>
            </a:r>
            <a:endParaRPr lang="en-US" sz="3200" dirty="0"/>
          </a:p>
        </p:txBody>
      </p:sp>
      <p:sp>
        <p:nvSpPr>
          <p:cNvPr id="4" name="Screenshot frame"/>
          <p:cNvSpPr/>
          <p:nvPr/>
        </p:nvSpPr>
        <p:spPr>
          <a:xfrm>
            <a:off x="448056" y="1042416"/>
            <a:ext cx="1706756" cy="3127248"/>
          </a:xfrm>
          <a:prstGeom prst="roundRect">
            <a:avLst>
              <a:gd name="adj" fmla="val 3215"/>
            </a:avLst>
          </a:prstGeom>
          <a:solidFill>
            <a:schemeClr val="bg2"/>
          </a:solidFill>
          <a:ln/>
          <a:effectLst>
            <a:outerShdw sx="100000" sy="100000" kx="0" ky="0" algn="bl" rotWithShape="0" blurRad="76200" dist="25400" dir="5400000">
              <a:srgbClr val="000000">
                <a:alpha val="14000"/>
              </a:srgbClr>
            </a:outerShdw>
          </a:effectLst>
        </p:spPr>
      </p:sp>
      <p:pic>
        <p:nvPicPr>
          <p:cNvPr id="5" name="Image 0" descr="ShopEase screenshot">    </p:cNvPr>
          <p:cNvPicPr>
            <a:picLocks noChangeAspect="1"/>
          </p:cNvPicPr>
          <p:nvPr/>
        </p:nvPicPr>
        <p:blipFill>
          <a:blip r:embed="rId1"/>
          <a:stretch>
            <a:fillRect/>
          </a:stretch>
        </p:blipFill>
        <p:spPr>
          <a:xfrm>
            <a:off x="502920" y="1097280"/>
            <a:ext cx="1597028" cy="3017520"/>
          </a:xfrm>
          <a:prstGeom prst="rect">
            <a:avLst/>
          </a:prstGeom>
        </p:spPr>
      </p:pic>
      <p:sp>
        <p:nvSpPr>
          <p:cNvPr id="6" name="Caption"/>
          <p:cNvSpPr txBox="1"/>
          <p:nvPr/>
        </p:nvSpPr>
        <p:spPr>
          <a:xfrm>
            <a:off x="411480" y="4251960"/>
            <a:ext cx="1779908" cy="256032"/>
          </a:xfrm>
          <a:prstGeom prst="rect">
            <a:avLst/>
          </a:prstGeom>
          <a:noFill/>
          <a:ln/>
        </p:spPr>
        <p:txBody>
          <a:bodyPr wrap="square" lIns="0" tIns="0" rIns="0" bIns="0" rtlCol="0" anchor="ctr"/>
          <a:lstStyle/>
          <a:p>
            <a:pPr algn="ctr" indent="0" marL="0">
              <a:buNone/>
            </a:pPr>
            <a:r>
              <a:rPr lang="en-US" sz="1200" b="1" dirty="0">
                <a:solidFill>
                  <a:schemeClr val="tx2"/>
                </a:solidFill>
              </a:rPr>
              <a:t>Home and catalog</a:t>
            </a:r>
            <a:endParaRPr lang="en-US" sz="1200" dirty="0"/>
          </a:p>
        </p:txBody>
      </p:sp>
      <p:sp>
        <p:nvSpPr>
          <p:cNvPr id="7" name="Screenshot frame"/>
          <p:cNvSpPr/>
          <p:nvPr/>
        </p:nvSpPr>
        <p:spPr>
          <a:xfrm>
            <a:off x="2276856" y="1042416"/>
            <a:ext cx="1707129" cy="3127248"/>
          </a:xfrm>
          <a:prstGeom prst="roundRect">
            <a:avLst>
              <a:gd name="adj" fmla="val 3214"/>
            </a:avLst>
          </a:prstGeom>
          <a:solidFill>
            <a:schemeClr val="bg2"/>
          </a:solidFill>
          <a:ln/>
          <a:effectLst>
            <a:outerShdw sx="100000" sy="100000" kx="0" ky="0" algn="bl" rotWithShape="0" blurRad="76200" dist="25400" dir="5400000">
              <a:srgbClr val="000000">
                <a:alpha val="14000"/>
              </a:srgbClr>
            </a:outerShdw>
          </a:effectLst>
        </p:spPr>
      </p:sp>
      <p:pic>
        <p:nvPicPr>
          <p:cNvPr id="8" name="Image 1" descr="ShopEase screenshot">    </p:cNvPr>
          <p:cNvPicPr>
            <a:picLocks noChangeAspect="1"/>
          </p:cNvPicPr>
          <p:nvPr/>
        </p:nvPicPr>
        <p:blipFill>
          <a:blip r:embed="rId2"/>
          <a:stretch>
            <a:fillRect/>
          </a:stretch>
        </p:blipFill>
        <p:spPr>
          <a:xfrm>
            <a:off x="2331720" y="1097280"/>
            <a:ext cx="1597401" cy="3017520"/>
          </a:xfrm>
          <a:prstGeom prst="rect">
            <a:avLst/>
          </a:prstGeom>
        </p:spPr>
      </p:pic>
      <p:sp>
        <p:nvSpPr>
          <p:cNvPr id="9" name="Caption"/>
          <p:cNvSpPr txBox="1"/>
          <p:nvPr/>
        </p:nvSpPr>
        <p:spPr>
          <a:xfrm>
            <a:off x="2240280" y="4251960"/>
            <a:ext cx="1780281" cy="256032"/>
          </a:xfrm>
          <a:prstGeom prst="rect">
            <a:avLst/>
          </a:prstGeom>
          <a:noFill/>
          <a:ln/>
        </p:spPr>
        <p:txBody>
          <a:bodyPr wrap="square" lIns="0" tIns="0" rIns="0" bIns="0" rtlCol="0" anchor="ctr"/>
          <a:lstStyle/>
          <a:p>
            <a:pPr algn="ctr" indent="0" marL="0">
              <a:buNone/>
            </a:pPr>
            <a:r>
              <a:rPr lang="en-US" sz="1200" b="1" dirty="0">
                <a:solidFill>
                  <a:schemeClr val="tx2"/>
                </a:solidFill>
              </a:rPr>
              <a:t>Order tracking</a:t>
            </a:r>
            <a:endParaRPr lang="en-US" sz="1200" dirty="0"/>
          </a:p>
        </p:txBody>
      </p:sp>
      <p:sp>
        <p:nvSpPr>
          <p:cNvPr id="10" name="Screenshot frame"/>
          <p:cNvSpPr/>
          <p:nvPr/>
        </p:nvSpPr>
        <p:spPr>
          <a:xfrm>
            <a:off x="4105656" y="1042416"/>
            <a:ext cx="1707129" cy="3127248"/>
          </a:xfrm>
          <a:prstGeom prst="roundRect">
            <a:avLst>
              <a:gd name="adj" fmla="val 3214"/>
            </a:avLst>
          </a:prstGeom>
          <a:solidFill>
            <a:schemeClr val="bg2"/>
          </a:solidFill>
          <a:ln/>
          <a:effectLst>
            <a:outerShdw sx="100000" sy="100000" kx="0" ky="0" algn="bl" rotWithShape="0" blurRad="76200" dist="25400" dir="5400000">
              <a:srgbClr val="000000">
                <a:alpha val="14000"/>
              </a:srgbClr>
            </a:outerShdw>
          </a:effectLst>
        </p:spPr>
      </p:sp>
      <p:pic>
        <p:nvPicPr>
          <p:cNvPr id="11" name="Image 2" descr="ShopEase screenshot">    </p:cNvPr>
          <p:cNvPicPr>
            <a:picLocks noChangeAspect="1"/>
          </p:cNvPicPr>
          <p:nvPr/>
        </p:nvPicPr>
        <p:blipFill>
          <a:blip r:embed="rId3"/>
          <a:stretch>
            <a:fillRect/>
          </a:stretch>
        </p:blipFill>
        <p:spPr>
          <a:xfrm>
            <a:off x="4160520" y="1097280"/>
            <a:ext cx="1597401" cy="3017520"/>
          </a:xfrm>
          <a:prstGeom prst="rect">
            <a:avLst/>
          </a:prstGeom>
        </p:spPr>
      </p:pic>
      <p:sp>
        <p:nvSpPr>
          <p:cNvPr id="12" name="Caption"/>
          <p:cNvSpPr txBox="1"/>
          <p:nvPr/>
        </p:nvSpPr>
        <p:spPr>
          <a:xfrm>
            <a:off x="4069080" y="4251960"/>
            <a:ext cx="1780281" cy="256032"/>
          </a:xfrm>
          <a:prstGeom prst="rect">
            <a:avLst/>
          </a:prstGeom>
          <a:noFill/>
          <a:ln/>
        </p:spPr>
        <p:txBody>
          <a:bodyPr wrap="square" lIns="0" tIns="0" rIns="0" bIns="0" rtlCol="0" anchor="ctr"/>
          <a:lstStyle/>
          <a:p>
            <a:pPr algn="ctr" indent="0" marL="0">
              <a:buNone/>
            </a:pPr>
            <a:r>
              <a:rPr lang="en-US" sz="1200" b="1" dirty="0">
                <a:solidFill>
                  <a:schemeClr val="tx2"/>
                </a:solidFill>
              </a:rPr>
              <a:t>Admin dashboard</a:t>
            </a:r>
            <a:endParaRPr lang="en-US" sz="1200" dirty="0"/>
          </a:p>
        </p:txBody>
      </p:sp>
      <p:sp>
        <p:nvSpPr>
          <p:cNvPr id="13" name="Screenshot frame"/>
          <p:cNvSpPr/>
          <p:nvPr/>
        </p:nvSpPr>
        <p:spPr>
          <a:xfrm>
            <a:off x="5888736" y="1042416"/>
            <a:ext cx="2852928" cy="3103625"/>
          </a:xfrm>
          <a:prstGeom prst="roundRect">
            <a:avLst>
              <a:gd name="adj" fmla="val 1923"/>
            </a:avLst>
          </a:prstGeom>
          <a:solidFill>
            <a:schemeClr val="bg2"/>
          </a:solidFill>
          <a:ln/>
          <a:effectLst>
            <a:outerShdw sx="100000" sy="100000" kx="0" ky="0" algn="bl" rotWithShape="0" blurRad="76200" dist="25400" dir="5400000">
              <a:srgbClr val="000000">
                <a:alpha val="14000"/>
              </a:srgbClr>
            </a:outerShdw>
          </a:effectLst>
        </p:spPr>
      </p:sp>
      <p:pic>
        <p:nvPicPr>
          <p:cNvPr id="14" name="Image 3" descr="ShopEase screenshot">    </p:cNvPr>
          <p:cNvPicPr>
            <a:picLocks noChangeAspect="1"/>
          </p:cNvPicPr>
          <p:nvPr/>
        </p:nvPicPr>
        <p:blipFill>
          <a:blip r:embed="rId4"/>
          <a:stretch>
            <a:fillRect/>
          </a:stretch>
        </p:blipFill>
        <p:spPr>
          <a:xfrm>
            <a:off x="5943600" y="1097280"/>
            <a:ext cx="2743200" cy="2993897"/>
          </a:xfrm>
          <a:prstGeom prst="rect">
            <a:avLst/>
          </a:prstGeom>
        </p:spPr>
      </p:pic>
      <p:sp>
        <p:nvSpPr>
          <p:cNvPr id="15" name="Caption"/>
          <p:cNvSpPr txBox="1"/>
          <p:nvPr/>
        </p:nvSpPr>
        <p:spPr>
          <a:xfrm>
            <a:off x="5943600" y="4251960"/>
            <a:ext cx="2743200" cy="256032"/>
          </a:xfrm>
          <a:prstGeom prst="rect">
            <a:avLst/>
          </a:prstGeom>
          <a:noFill/>
          <a:ln/>
        </p:spPr>
        <p:txBody>
          <a:bodyPr wrap="square" lIns="0" tIns="0" rIns="0" bIns="0" rtlCol="0" anchor="ctr"/>
          <a:lstStyle/>
          <a:p>
            <a:pPr algn="ctr" indent="0" marL="0">
              <a:buNone/>
            </a:pPr>
            <a:r>
              <a:rPr lang="en-US" sz="1200" b="1" dirty="0">
                <a:solidFill>
                  <a:schemeClr val="tx2"/>
                </a:solidFill>
              </a:rPr>
              <a:t>Order confirmation email</a:t>
            </a:r>
            <a:endParaRPr lang="en-US" sz="1200" dirty="0"/>
          </a:p>
        </p:txBody>
      </p:sp>
      <p:sp>
        <p:nvSpPr>
          <p:cNvPr id="16" name="spacer"/>
          <p:cNvSpPr/>
          <p:nvPr/>
        </p:nvSpPr>
        <p:spPr>
          <a:xfrm>
            <a:off x="5943600" y="4187952"/>
            <a:ext cx="9144" cy="9144"/>
          </a:xfrm>
          <a:prstGeom prst="roundRect">
            <a:avLst/>
          </a:prstGeom>
          <a:solidFill>
            <a:schemeClr val="bg1"/>
          </a:solidFill>
          <a:ln/>
        </p:spPr>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Key learnings and skills</a:t>
            </a:r>
            <a:endParaRPr lang="en-US" sz="3200" dirty="0"/>
          </a:p>
        </p:txBody>
      </p:sp>
      <p:sp>
        <p:nvSpPr>
          <p:cNvPr id="4" name="Skills heading"/>
          <p:cNvSpPr txBox="1"/>
          <p:nvPr/>
        </p:nvSpPr>
        <p:spPr>
          <a:xfrm>
            <a:off x="457200" y="1005840"/>
            <a:ext cx="4023360" cy="320040"/>
          </a:xfrm>
          <a:prstGeom prst="rect">
            <a:avLst/>
          </a:prstGeom>
          <a:noFill/>
          <a:ln/>
        </p:spPr>
        <p:txBody>
          <a:bodyPr wrap="square" lIns="0" tIns="0" rIns="0" bIns="0" rtlCol="0" anchor="ctr"/>
          <a:lstStyle/>
          <a:p>
            <a:pPr indent="0" marL="0">
              <a:buNone/>
            </a:pPr>
            <a:r>
              <a:rPr lang="en-US" sz="1800" b="1" dirty="0">
                <a:solidFill>
                  <a:schemeClr val="tx2"/>
                </a:solidFill>
              </a:rPr>
              <a:t>Technical skills</a:t>
            </a:r>
            <a:endParaRPr lang="en-US" sz="1800" dirty="0"/>
          </a:p>
        </p:txBody>
      </p:sp>
      <p:sp>
        <p:nvSpPr>
          <p:cNvPr id="5" name="Skill row"/>
          <p:cNvSpPr/>
          <p:nvPr/>
        </p:nvSpPr>
        <p:spPr>
          <a:xfrm>
            <a:off x="457200" y="1463040"/>
            <a:ext cx="4023360" cy="658368"/>
          </a:xfrm>
          <a:prstGeom prst="roundRect">
            <a:avLst>
              <a:gd name="adj" fmla="val 13889"/>
            </a:avLst>
          </a:prstGeom>
          <a:solidFill>
            <a:schemeClr val="bg2"/>
          </a:solidFill>
          <a:ln/>
        </p:spPr>
      </p:sp>
      <p:pic>
        <p:nvPicPr>
          <p:cNvPr id="6" name="Image 0" descr="check">    </p:cNvPr>
          <p:cNvPicPr>
            <a:picLocks noChangeAspect="1"/>
          </p:cNvPicPr>
          <p:nvPr/>
        </p:nvPicPr>
        <p:blipFill>
          <a:blip r:embed="rId1"/>
          <a:stretch>
            <a:fillRect/>
          </a:stretch>
        </p:blipFill>
        <p:spPr>
          <a:xfrm>
            <a:off x="594360" y="1673352"/>
            <a:ext cx="237744" cy="237744"/>
          </a:xfrm>
          <a:prstGeom prst="rect">
            <a:avLst/>
          </a:prstGeom>
        </p:spPr>
      </p:pic>
      <p:sp>
        <p:nvSpPr>
          <p:cNvPr id="7" name="Skill text"/>
          <p:cNvSpPr txBox="1"/>
          <p:nvPr/>
        </p:nvSpPr>
        <p:spPr>
          <a:xfrm>
            <a:off x="1005840" y="1463040"/>
            <a:ext cx="3383280" cy="658368"/>
          </a:xfrm>
          <a:prstGeom prst="rect">
            <a:avLst/>
          </a:prstGeom>
          <a:noFill/>
          <a:ln/>
        </p:spPr>
        <p:txBody>
          <a:bodyPr wrap="square" lIns="0" tIns="0" rIns="0" bIns="0" rtlCol="0" anchor="ctr"/>
          <a:lstStyle/>
          <a:p>
            <a:pPr indent="0" marL="0">
              <a:buNone/>
            </a:pPr>
            <a:r>
              <a:rPr lang="en-US" sz="1400" dirty="0">
                <a:solidFill>
                  <a:schemeClr val="tx1"/>
                </a:solidFill>
              </a:rPr>
              <a:t>React: components, state, hooks, routing</a:t>
            </a:r>
            <a:endParaRPr lang="en-US" sz="1400" dirty="0"/>
          </a:p>
        </p:txBody>
      </p:sp>
      <p:sp>
        <p:nvSpPr>
          <p:cNvPr id="8" name="Skill row"/>
          <p:cNvSpPr/>
          <p:nvPr/>
        </p:nvSpPr>
        <p:spPr>
          <a:xfrm>
            <a:off x="457200" y="2240280"/>
            <a:ext cx="4023360" cy="658368"/>
          </a:xfrm>
          <a:prstGeom prst="roundRect">
            <a:avLst>
              <a:gd name="adj" fmla="val 13889"/>
            </a:avLst>
          </a:prstGeom>
          <a:solidFill>
            <a:schemeClr val="bg2"/>
          </a:solidFill>
          <a:ln/>
        </p:spPr>
      </p:sp>
      <p:pic>
        <p:nvPicPr>
          <p:cNvPr id="9" name="Image 1" descr="check">    </p:cNvPr>
          <p:cNvPicPr>
            <a:picLocks noChangeAspect="1"/>
          </p:cNvPicPr>
          <p:nvPr/>
        </p:nvPicPr>
        <p:blipFill>
          <a:blip r:embed="rId2"/>
          <a:stretch>
            <a:fillRect/>
          </a:stretch>
        </p:blipFill>
        <p:spPr>
          <a:xfrm>
            <a:off x="594360" y="2450592"/>
            <a:ext cx="237744" cy="237744"/>
          </a:xfrm>
          <a:prstGeom prst="rect">
            <a:avLst/>
          </a:prstGeom>
        </p:spPr>
      </p:pic>
      <p:sp>
        <p:nvSpPr>
          <p:cNvPr id="10" name="Skill text"/>
          <p:cNvSpPr txBox="1"/>
          <p:nvPr/>
        </p:nvSpPr>
        <p:spPr>
          <a:xfrm>
            <a:off x="1005840" y="2240280"/>
            <a:ext cx="3383280" cy="658368"/>
          </a:xfrm>
          <a:prstGeom prst="rect">
            <a:avLst/>
          </a:prstGeom>
          <a:noFill/>
          <a:ln/>
        </p:spPr>
        <p:txBody>
          <a:bodyPr wrap="square" lIns="0" tIns="0" rIns="0" bIns="0" rtlCol="0" anchor="ctr"/>
          <a:lstStyle/>
          <a:p>
            <a:pPr indent="0" marL="0">
              <a:buNone/>
            </a:pPr>
            <a:r>
              <a:rPr lang="en-US" sz="1400" dirty="0">
                <a:solidFill>
                  <a:schemeClr val="tx1"/>
                </a:solidFill>
              </a:rPr>
              <a:t>Node.js and Express.js: REST APIs, middleware</a:t>
            </a:r>
            <a:endParaRPr lang="en-US" sz="1400" dirty="0"/>
          </a:p>
        </p:txBody>
      </p:sp>
      <p:sp>
        <p:nvSpPr>
          <p:cNvPr id="11" name="Skill row"/>
          <p:cNvSpPr/>
          <p:nvPr/>
        </p:nvSpPr>
        <p:spPr>
          <a:xfrm>
            <a:off x="457200" y="3017520"/>
            <a:ext cx="4023360" cy="658368"/>
          </a:xfrm>
          <a:prstGeom prst="roundRect">
            <a:avLst>
              <a:gd name="adj" fmla="val 13889"/>
            </a:avLst>
          </a:prstGeom>
          <a:solidFill>
            <a:schemeClr val="bg2"/>
          </a:solidFill>
          <a:ln/>
        </p:spPr>
      </p:sp>
      <p:pic>
        <p:nvPicPr>
          <p:cNvPr id="12" name="Image 2" descr="check">    </p:cNvPr>
          <p:cNvPicPr>
            <a:picLocks noChangeAspect="1"/>
          </p:cNvPicPr>
          <p:nvPr/>
        </p:nvPicPr>
        <p:blipFill>
          <a:blip r:embed="rId3"/>
          <a:stretch>
            <a:fillRect/>
          </a:stretch>
        </p:blipFill>
        <p:spPr>
          <a:xfrm>
            <a:off x="594360" y="3227832"/>
            <a:ext cx="237744" cy="237744"/>
          </a:xfrm>
          <a:prstGeom prst="rect">
            <a:avLst/>
          </a:prstGeom>
        </p:spPr>
      </p:pic>
      <p:sp>
        <p:nvSpPr>
          <p:cNvPr id="13" name="Skill text"/>
          <p:cNvSpPr txBox="1"/>
          <p:nvPr/>
        </p:nvSpPr>
        <p:spPr>
          <a:xfrm>
            <a:off x="1005840" y="3017520"/>
            <a:ext cx="3383280" cy="658368"/>
          </a:xfrm>
          <a:prstGeom prst="rect">
            <a:avLst/>
          </a:prstGeom>
          <a:noFill/>
          <a:ln/>
        </p:spPr>
        <p:txBody>
          <a:bodyPr wrap="square" lIns="0" tIns="0" rIns="0" bIns="0" rtlCol="0" anchor="ctr"/>
          <a:lstStyle/>
          <a:p>
            <a:pPr indent="0" marL="0">
              <a:buNone/>
            </a:pPr>
            <a:r>
              <a:rPr lang="en-US" sz="1400" dirty="0">
                <a:solidFill>
                  <a:schemeClr val="tx1"/>
                </a:solidFill>
              </a:rPr>
              <a:t>MongoDB and Mongoose: data modelling</a:t>
            </a:r>
            <a:endParaRPr lang="en-US" sz="1400" dirty="0"/>
          </a:p>
        </p:txBody>
      </p:sp>
      <p:sp>
        <p:nvSpPr>
          <p:cNvPr id="14" name="Skill row"/>
          <p:cNvSpPr/>
          <p:nvPr/>
        </p:nvSpPr>
        <p:spPr>
          <a:xfrm>
            <a:off x="457200" y="3794760"/>
            <a:ext cx="4023360" cy="658368"/>
          </a:xfrm>
          <a:prstGeom prst="roundRect">
            <a:avLst>
              <a:gd name="adj" fmla="val 13889"/>
            </a:avLst>
          </a:prstGeom>
          <a:solidFill>
            <a:schemeClr val="bg2"/>
          </a:solidFill>
          <a:ln/>
        </p:spPr>
      </p:sp>
      <p:pic>
        <p:nvPicPr>
          <p:cNvPr id="15" name="Image 3" descr="check">    </p:cNvPr>
          <p:cNvPicPr>
            <a:picLocks noChangeAspect="1"/>
          </p:cNvPicPr>
          <p:nvPr/>
        </p:nvPicPr>
        <p:blipFill>
          <a:blip r:embed="rId4"/>
          <a:stretch>
            <a:fillRect/>
          </a:stretch>
        </p:blipFill>
        <p:spPr>
          <a:xfrm>
            <a:off x="594360" y="4005072"/>
            <a:ext cx="237744" cy="237744"/>
          </a:xfrm>
          <a:prstGeom prst="rect">
            <a:avLst/>
          </a:prstGeom>
        </p:spPr>
      </p:pic>
      <p:sp>
        <p:nvSpPr>
          <p:cNvPr id="16" name="Skill text"/>
          <p:cNvSpPr txBox="1"/>
          <p:nvPr/>
        </p:nvSpPr>
        <p:spPr>
          <a:xfrm>
            <a:off x="1005840" y="3794760"/>
            <a:ext cx="3383280" cy="658368"/>
          </a:xfrm>
          <a:prstGeom prst="rect">
            <a:avLst/>
          </a:prstGeom>
          <a:noFill/>
          <a:ln/>
        </p:spPr>
        <p:txBody>
          <a:bodyPr wrap="square" lIns="0" tIns="0" rIns="0" bIns="0" rtlCol="0" anchor="ctr"/>
          <a:lstStyle/>
          <a:p>
            <a:pPr indent="0" marL="0">
              <a:buNone/>
            </a:pPr>
            <a:r>
              <a:rPr lang="en-US" sz="1400" dirty="0">
                <a:solidFill>
                  <a:schemeClr val="tx1"/>
                </a:solidFill>
              </a:rPr>
              <a:t>Authentication: bcrypt hashing and JWT</a:t>
            </a:r>
            <a:endParaRPr lang="en-US" sz="1400" dirty="0"/>
          </a:p>
        </p:txBody>
      </p:sp>
      <p:sp>
        <p:nvSpPr>
          <p:cNvPr id="17" name="Practices card"/>
          <p:cNvSpPr/>
          <p:nvPr/>
        </p:nvSpPr>
        <p:spPr>
          <a:xfrm>
            <a:off x="4709160" y="1005840"/>
            <a:ext cx="3977640" cy="3520440"/>
          </a:xfrm>
          <a:prstGeom prst="roundRect">
            <a:avLst>
              <a:gd name="adj" fmla="val 2597"/>
            </a:avLst>
          </a:prstGeom>
          <a:solidFill>
            <a:schemeClr val="tx2"/>
          </a:solidFill>
          <a:ln/>
        </p:spPr>
      </p:sp>
      <p:sp>
        <p:nvSpPr>
          <p:cNvPr id="18" name="Practices heading"/>
          <p:cNvSpPr txBox="1"/>
          <p:nvPr/>
        </p:nvSpPr>
        <p:spPr>
          <a:xfrm>
            <a:off x="4937760" y="1143000"/>
            <a:ext cx="3566160" cy="365760"/>
          </a:xfrm>
          <a:prstGeom prst="rect">
            <a:avLst/>
          </a:prstGeom>
          <a:noFill/>
          <a:ln/>
        </p:spPr>
        <p:txBody>
          <a:bodyPr wrap="square" lIns="0" tIns="0" rIns="0" bIns="0" rtlCol="0" anchor="ctr"/>
          <a:lstStyle/>
          <a:p>
            <a:pPr indent="0" marL="0">
              <a:buNone/>
            </a:pPr>
            <a:r>
              <a:rPr lang="en-US" sz="1800" b="1" dirty="0">
                <a:solidFill>
                  <a:schemeClr val="accent3"/>
                </a:solidFill>
              </a:rPr>
              <a:t>Industry practices</a:t>
            </a:r>
            <a:endParaRPr lang="en-US" sz="1800" dirty="0"/>
          </a:p>
        </p:txBody>
      </p:sp>
      <p:pic>
        <p:nvPicPr>
          <p:cNvPr id="19" name="Image 4" descr="check">    </p:cNvPr>
          <p:cNvPicPr>
            <a:picLocks noChangeAspect="1"/>
          </p:cNvPicPr>
          <p:nvPr/>
        </p:nvPicPr>
        <p:blipFill>
          <a:blip r:embed="rId5"/>
          <a:stretch>
            <a:fillRect/>
          </a:stretch>
        </p:blipFill>
        <p:spPr>
          <a:xfrm>
            <a:off x="4937760" y="1709928"/>
            <a:ext cx="219456" cy="219456"/>
          </a:xfrm>
          <a:prstGeom prst="rect">
            <a:avLst/>
          </a:prstGeom>
        </p:spPr>
      </p:pic>
      <p:sp>
        <p:nvSpPr>
          <p:cNvPr id="20" name="Practice"/>
          <p:cNvSpPr txBox="1"/>
          <p:nvPr/>
        </p:nvSpPr>
        <p:spPr>
          <a:xfrm>
            <a:off x="5303520" y="1645920"/>
            <a:ext cx="3246120" cy="384048"/>
          </a:xfrm>
          <a:prstGeom prst="rect">
            <a:avLst/>
          </a:prstGeom>
          <a:noFill/>
          <a:ln/>
        </p:spPr>
        <p:txBody>
          <a:bodyPr wrap="square" lIns="0" tIns="0" rIns="0" bIns="0" rtlCol="0" anchor="ctr"/>
          <a:lstStyle/>
          <a:p>
            <a:pPr indent="0" marL="0">
              <a:buNone/>
            </a:pPr>
            <a:r>
              <a:rPr lang="en-US" sz="1300" dirty="0">
                <a:solidFill>
                  <a:schemeClr val="bg1"/>
                </a:solidFill>
              </a:rPr>
              <a:t>Version control with Git and GitHub</a:t>
            </a:r>
            <a:endParaRPr lang="en-US" sz="1300" dirty="0"/>
          </a:p>
        </p:txBody>
      </p:sp>
      <p:pic>
        <p:nvPicPr>
          <p:cNvPr id="21" name="Image 5" descr="check">    </p:cNvPr>
          <p:cNvPicPr>
            <a:picLocks noChangeAspect="1"/>
          </p:cNvPicPr>
          <p:nvPr/>
        </p:nvPicPr>
        <p:blipFill>
          <a:blip r:embed="rId6"/>
          <a:stretch>
            <a:fillRect/>
          </a:stretch>
        </p:blipFill>
        <p:spPr>
          <a:xfrm>
            <a:off x="4937760" y="2167128"/>
            <a:ext cx="219456" cy="219456"/>
          </a:xfrm>
          <a:prstGeom prst="rect">
            <a:avLst/>
          </a:prstGeom>
        </p:spPr>
      </p:pic>
      <p:sp>
        <p:nvSpPr>
          <p:cNvPr id="22" name="Practice"/>
          <p:cNvSpPr txBox="1"/>
          <p:nvPr/>
        </p:nvSpPr>
        <p:spPr>
          <a:xfrm>
            <a:off x="5303520" y="2103120"/>
            <a:ext cx="3246120" cy="384048"/>
          </a:xfrm>
          <a:prstGeom prst="rect">
            <a:avLst/>
          </a:prstGeom>
          <a:noFill/>
          <a:ln/>
        </p:spPr>
        <p:txBody>
          <a:bodyPr wrap="square" lIns="0" tIns="0" rIns="0" bIns="0" rtlCol="0" anchor="ctr"/>
          <a:lstStyle/>
          <a:p>
            <a:pPr indent="0" marL="0">
              <a:buNone/>
            </a:pPr>
            <a:r>
              <a:rPr lang="en-US" sz="1300" dirty="0">
                <a:solidFill>
                  <a:schemeClr val="bg1"/>
                </a:solidFill>
              </a:rPr>
              <a:t>Secrets in environment variables, never committed</a:t>
            </a:r>
            <a:endParaRPr lang="en-US" sz="1300" dirty="0"/>
          </a:p>
        </p:txBody>
      </p:sp>
      <p:pic>
        <p:nvPicPr>
          <p:cNvPr id="23" name="Image 6" descr="check">    </p:cNvPr>
          <p:cNvPicPr>
            <a:picLocks noChangeAspect="1"/>
          </p:cNvPicPr>
          <p:nvPr/>
        </p:nvPicPr>
        <p:blipFill>
          <a:blip r:embed="rId7"/>
          <a:stretch>
            <a:fillRect/>
          </a:stretch>
        </p:blipFill>
        <p:spPr>
          <a:xfrm>
            <a:off x="4937760" y="2624328"/>
            <a:ext cx="219456" cy="219456"/>
          </a:xfrm>
          <a:prstGeom prst="rect">
            <a:avLst/>
          </a:prstGeom>
        </p:spPr>
      </p:pic>
      <p:sp>
        <p:nvSpPr>
          <p:cNvPr id="24" name="Practice"/>
          <p:cNvSpPr txBox="1"/>
          <p:nvPr/>
        </p:nvSpPr>
        <p:spPr>
          <a:xfrm>
            <a:off x="5303520" y="2560320"/>
            <a:ext cx="3246120" cy="384048"/>
          </a:xfrm>
          <a:prstGeom prst="rect">
            <a:avLst/>
          </a:prstGeom>
          <a:noFill/>
          <a:ln/>
        </p:spPr>
        <p:txBody>
          <a:bodyPr wrap="square" lIns="0" tIns="0" rIns="0" bIns="0" rtlCol="0" anchor="ctr"/>
          <a:lstStyle/>
          <a:p>
            <a:pPr indent="0" marL="0">
              <a:buNone/>
            </a:pPr>
            <a:r>
              <a:rPr lang="en-US" sz="1300" dirty="0">
                <a:solidFill>
                  <a:schemeClr val="bg1"/>
                </a:solidFill>
              </a:rPr>
              <a:t>REST API design and HTTP status codes</a:t>
            </a:r>
            <a:endParaRPr lang="en-US" sz="1300" dirty="0"/>
          </a:p>
        </p:txBody>
      </p:sp>
      <p:pic>
        <p:nvPicPr>
          <p:cNvPr id="25" name="Image 7" descr="check">    </p:cNvPr>
          <p:cNvPicPr>
            <a:picLocks noChangeAspect="1"/>
          </p:cNvPicPr>
          <p:nvPr/>
        </p:nvPicPr>
        <p:blipFill>
          <a:blip r:embed="rId8"/>
          <a:stretch>
            <a:fillRect/>
          </a:stretch>
        </p:blipFill>
        <p:spPr>
          <a:xfrm>
            <a:off x="4937760" y="3081528"/>
            <a:ext cx="219456" cy="219456"/>
          </a:xfrm>
          <a:prstGeom prst="rect">
            <a:avLst/>
          </a:prstGeom>
        </p:spPr>
      </p:pic>
      <p:sp>
        <p:nvSpPr>
          <p:cNvPr id="26" name="Practice"/>
          <p:cNvSpPr txBox="1"/>
          <p:nvPr/>
        </p:nvSpPr>
        <p:spPr>
          <a:xfrm>
            <a:off x="5303520" y="3017520"/>
            <a:ext cx="3246120" cy="384048"/>
          </a:xfrm>
          <a:prstGeom prst="rect">
            <a:avLst/>
          </a:prstGeom>
          <a:noFill/>
          <a:ln/>
        </p:spPr>
        <p:txBody>
          <a:bodyPr wrap="square" lIns="0" tIns="0" rIns="0" bIns="0" rtlCol="0" anchor="ctr"/>
          <a:lstStyle/>
          <a:p>
            <a:pPr indent="0" marL="0">
              <a:buNone/>
            </a:pPr>
            <a:r>
              <a:rPr lang="en-US" sz="1300" dirty="0">
                <a:solidFill>
                  <a:schemeClr val="bg1"/>
                </a:solidFill>
              </a:rPr>
              <a:t>Manual and curl testing, bug fixing</a:t>
            </a:r>
            <a:endParaRPr lang="en-US" sz="1300" dirty="0"/>
          </a:p>
        </p:txBody>
      </p:sp>
      <p:pic>
        <p:nvPicPr>
          <p:cNvPr id="27" name="Image 8" descr="check">    </p:cNvPr>
          <p:cNvPicPr>
            <a:picLocks noChangeAspect="1"/>
          </p:cNvPicPr>
          <p:nvPr/>
        </p:nvPicPr>
        <p:blipFill>
          <a:blip r:embed="rId9"/>
          <a:stretch>
            <a:fillRect/>
          </a:stretch>
        </p:blipFill>
        <p:spPr>
          <a:xfrm>
            <a:off x="4937760" y="3538728"/>
            <a:ext cx="219456" cy="219456"/>
          </a:xfrm>
          <a:prstGeom prst="rect">
            <a:avLst/>
          </a:prstGeom>
        </p:spPr>
      </p:pic>
      <p:sp>
        <p:nvSpPr>
          <p:cNvPr id="28" name="Practice"/>
          <p:cNvSpPr txBox="1"/>
          <p:nvPr/>
        </p:nvSpPr>
        <p:spPr>
          <a:xfrm>
            <a:off x="5303520" y="3474720"/>
            <a:ext cx="3246120" cy="384048"/>
          </a:xfrm>
          <a:prstGeom prst="rect">
            <a:avLst/>
          </a:prstGeom>
          <a:noFill/>
          <a:ln/>
        </p:spPr>
        <p:txBody>
          <a:bodyPr wrap="square" lIns="0" tIns="0" rIns="0" bIns="0" rtlCol="0" anchor="ctr"/>
          <a:lstStyle/>
          <a:p>
            <a:pPr indent="0" marL="0">
              <a:buNone/>
            </a:pPr>
            <a:r>
              <a:rPr lang="en-US" sz="1300" dirty="0">
                <a:solidFill>
                  <a:schemeClr val="bg1"/>
                </a:solidFill>
              </a:rPr>
              <a:t>Documentation: README and .env.example</a:t>
            </a:r>
            <a:endParaRPr lang="en-US" sz="1300" dirty="0"/>
          </a:p>
        </p:txBody>
      </p:sp>
      <p:pic>
        <p:nvPicPr>
          <p:cNvPr id="29" name="Image 9" descr="check">    </p:cNvPr>
          <p:cNvPicPr>
            <a:picLocks noChangeAspect="1"/>
          </p:cNvPicPr>
          <p:nvPr/>
        </p:nvPicPr>
        <p:blipFill>
          <a:blip r:embed="rId10"/>
          <a:stretch>
            <a:fillRect/>
          </a:stretch>
        </p:blipFill>
        <p:spPr>
          <a:xfrm>
            <a:off x="4937760" y="3995928"/>
            <a:ext cx="219456" cy="219456"/>
          </a:xfrm>
          <a:prstGeom prst="rect">
            <a:avLst/>
          </a:prstGeom>
        </p:spPr>
      </p:pic>
      <p:sp>
        <p:nvSpPr>
          <p:cNvPr id="30" name="Practice"/>
          <p:cNvSpPr txBox="1"/>
          <p:nvPr/>
        </p:nvSpPr>
        <p:spPr>
          <a:xfrm>
            <a:off x="5303520" y="3931920"/>
            <a:ext cx="3246120" cy="384048"/>
          </a:xfrm>
          <a:prstGeom prst="rect">
            <a:avLst/>
          </a:prstGeom>
          <a:noFill/>
          <a:ln/>
        </p:spPr>
        <p:txBody>
          <a:bodyPr wrap="square" lIns="0" tIns="0" rIns="0" bIns="0" rtlCol="0" anchor="ctr"/>
          <a:lstStyle/>
          <a:p>
            <a:pPr indent="0" marL="0">
              <a:buNone/>
            </a:pPr>
            <a:r>
              <a:rPr lang="en-US" sz="1300" dirty="0">
                <a:solidFill>
                  <a:schemeClr val="bg1"/>
                </a:solidFill>
              </a:rPr>
              <a:t>Deployment on Vercel</a:t>
            </a:r>
            <a:endParaRPr lang="en-US" sz="13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Conclusion and references</a:t>
            </a:r>
            <a:endParaRPr lang="en-US" sz="3200" dirty="0"/>
          </a:p>
        </p:txBody>
      </p:sp>
      <p:sp>
        <p:nvSpPr>
          <p:cNvPr id="4" name="Conclusion card"/>
          <p:cNvSpPr/>
          <p:nvPr/>
        </p:nvSpPr>
        <p:spPr>
          <a:xfrm>
            <a:off x="457200" y="1005840"/>
            <a:ext cx="4023360" cy="3520440"/>
          </a:xfrm>
          <a:prstGeom prst="roundRect">
            <a:avLst>
              <a:gd name="adj" fmla="val 2597"/>
            </a:avLst>
          </a:prstGeom>
          <a:solidFill>
            <a:schemeClr val="bg2"/>
          </a:solidFill>
          <a:ln/>
        </p:spPr>
      </p:sp>
      <p:sp>
        <p:nvSpPr>
          <p:cNvPr id="5" name="Conclusion heading"/>
          <p:cNvSpPr txBox="1"/>
          <p:nvPr/>
        </p:nvSpPr>
        <p:spPr>
          <a:xfrm>
            <a:off x="640080" y="1115568"/>
            <a:ext cx="3657600" cy="365760"/>
          </a:xfrm>
          <a:prstGeom prst="rect">
            <a:avLst/>
          </a:prstGeom>
          <a:noFill/>
          <a:ln/>
        </p:spPr>
        <p:txBody>
          <a:bodyPr wrap="square" lIns="0" tIns="0" rIns="0" bIns="0" rtlCol="0" anchor="ctr"/>
          <a:lstStyle/>
          <a:p>
            <a:pPr indent="0" marL="0">
              <a:buNone/>
            </a:pPr>
            <a:r>
              <a:rPr lang="en-US" sz="1800" b="1" dirty="0">
                <a:solidFill>
                  <a:schemeClr val="tx2"/>
                </a:solidFill>
              </a:rPr>
              <a:t>Conclusion</a:t>
            </a:r>
            <a:endParaRPr lang="en-US" sz="1800" dirty="0"/>
          </a:p>
        </p:txBody>
      </p:sp>
      <p:sp>
        <p:nvSpPr>
          <p:cNvPr id="6" name="Conclusion text"/>
          <p:cNvSpPr txBox="1"/>
          <p:nvPr/>
        </p:nvSpPr>
        <p:spPr>
          <a:xfrm>
            <a:off x="640080" y="1554480"/>
            <a:ext cx="3657600" cy="1463040"/>
          </a:xfrm>
          <a:prstGeom prst="rect">
            <a:avLst/>
          </a:prstGeom>
          <a:noFill/>
          <a:ln/>
        </p:spPr>
        <p:txBody>
          <a:bodyPr wrap="square" lIns="0" tIns="0" rIns="0" bIns="0" rtlCol="0" anchor="t"/>
          <a:lstStyle/>
          <a:p>
            <a:pPr indent="0" marL="0">
              <a:buNone/>
            </a:pPr>
            <a:r>
              <a:rPr lang="en-US" sz="1400" dirty="0">
                <a:solidFill>
                  <a:schemeClr val="tx1"/>
                </a:solidFill>
              </a:rPr>
              <a:t>In 30 days I learned the MERN stack and built ShopEase, a deployed online store with order tracking, email updates and an admin dashboard. The internship improved my technical skills and confidence with real-world projects.</a:t>
            </a:r>
            <a:endParaRPr lang="en-US" sz="1400" dirty="0"/>
          </a:p>
        </p:txBody>
      </p:sp>
      <p:sp>
        <p:nvSpPr>
          <p:cNvPr id="7" name="Future heading"/>
          <p:cNvSpPr txBox="1"/>
          <p:nvPr/>
        </p:nvSpPr>
        <p:spPr>
          <a:xfrm>
            <a:off x="640080" y="3063240"/>
            <a:ext cx="3657600" cy="274320"/>
          </a:xfrm>
          <a:prstGeom prst="rect">
            <a:avLst/>
          </a:prstGeom>
          <a:noFill/>
          <a:ln/>
        </p:spPr>
        <p:txBody>
          <a:bodyPr wrap="square" lIns="0" tIns="0" rIns="0" bIns="0" rtlCol="0" anchor="ctr"/>
          <a:lstStyle/>
          <a:p>
            <a:pPr indent="0" marL="0">
              <a:buNone/>
            </a:pPr>
            <a:r>
              <a:rPr lang="en-US" sz="1400" b="1" dirty="0">
                <a:solidFill>
                  <a:schemeClr val="accent2"/>
                </a:solidFill>
              </a:rPr>
              <a:t>Future work</a:t>
            </a:r>
            <a:endParaRPr lang="en-US" sz="1400" dirty="0"/>
          </a:p>
        </p:txBody>
      </p:sp>
      <p:sp>
        <p:nvSpPr>
          <p:cNvPr id="8" name="Future list"/>
          <p:cNvSpPr txBox="1"/>
          <p:nvPr/>
        </p:nvSpPr>
        <p:spPr>
          <a:xfrm>
            <a:off x="640080" y="3383280"/>
            <a:ext cx="3657600" cy="1005840"/>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1"/>
                </a:solidFill>
              </a:rPr>
              <a:t>SMS or WhatsApp notifications</a:t>
            </a:r>
            <a:endParaRPr lang="en-US" sz="1300" dirty="0"/>
          </a:p>
          <a:p>
            <a:pPr marL="177800" indent="-177800">
              <a:spcAft>
                <a:spcPts val="300"/>
              </a:spcAft>
              <a:buSzPct val="100000"/>
              <a:buChar char="•"/>
            </a:pPr>
            <a:r>
              <a:rPr lang="en-US" sz="1300" dirty="0">
                <a:solidFill>
                  <a:schemeClr val="tx1"/>
                </a:solidFill>
              </a:rPr>
              <a:t>Payment-provider sandbox</a:t>
            </a:r>
            <a:endParaRPr lang="en-US" sz="1300" dirty="0"/>
          </a:p>
          <a:p>
            <a:pPr marL="177800" indent="-177800">
              <a:spcAft>
                <a:spcPts val="300"/>
              </a:spcAft>
              <a:buSzPct val="100000"/>
              <a:buChar char="•"/>
            </a:pPr>
            <a:r>
              <a:rPr lang="en-US" sz="1300" dirty="0">
                <a:solidFill>
                  <a:schemeClr val="tx1"/>
                </a:solidFill>
              </a:rPr>
              <a:t>Automated unit and integration tests</a:t>
            </a:r>
            <a:endParaRPr lang="en-US" sz="1300" dirty="0"/>
          </a:p>
        </p:txBody>
      </p:sp>
      <p:sp>
        <p:nvSpPr>
          <p:cNvPr id="9" name="References card"/>
          <p:cNvSpPr/>
          <p:nvPr/>
        </p:nvSpPr>
        <p:spPr>
          <a:xfrm>
            <a:off x="4709160" y="1005840"/>
            <a:ext cx="3977640" cy="3520440"/>
          </a:xfrm>
          <a:prstGeom prst="roundRect">
            <a:avLst>
              <a:gd name="adj" fmla="val 2597"/>
            </a:avLst>
          </a:prstGeom>
          <a:solidFill>
            <a:schemeClr val="tx2"/>
          </a:solidFill>
          <a:ln/>
        </p:spPr>
      </p:sp>
      <p:sp>
        <p:nvSpPr>
          <p:cNvPr id="10" name="References heading"/>
          <p:cNvSpPr txBox="1"/>
          <p:nvPr/>
        </p:nvSpPr>
        <p:spPr>
          <a:xfrm>
            <a:off x="4937760" y="1115568"/>
            <a:ext cx="3566160" cy="365760"/>
          </a:xfrm>
          <a:prstGeom prst="rect">
            <a:avLst/>
          </a:prstGeom>
          <a:noFill/>
          <a:ln/>
        </p:spPr>
        <p:txBody>
          <a:bodyPr wrap="square" lIns="0" tIns="0" rIns="0" bIns="0" rtlCol="0" anchor="ctr"/>
          <a:lstStyle/>
          <a:p>
            <a:pPr indent="0" marL="0">
              <a:buNone/>
            </a:pPr>
            <a:r>
              <a:rPr lang="en-US" sz="1800" b="1" dirty="0">
                <a:solidFill>
                  <a:schemeClr val="accent3"/>
                </a:solidFill>
              </a:rPr>
              <a:t>References</a:t>
            </a:r>
            <a:endParaRPr lang="en-US" sz="1800" dirty="0"/>
          </a:p>
        </p:txBody>
      </p:sp>
      <p:sp>
        <p:nvSpPr>
          <p:cNvPr id="11" name="Reference"/>
          <p:cNvSpPr txBox="1"/>
          <p:nvPr/>
        </p:nvSpPr>
        <p:spPr>
          <a:xfrm>
            <a:off x="4937760" y="1554480"/>
            <a:ext cx="3611880" cy="274320"/>
          </a:xfrm>
          <a:prstGeom prst="rect">
            <a:avLst/>
          </a:prstGeom>
          <a:noFill/>
          <a:ln/>
        </p:spPr>
        <p:txBody>
          <a:bodyPr wrap="square" lIns="0" tIns="0" rIns="0" bIns="0" rtlCol="0" anchor="ctr"/>
          <a:lstStyle/>
          <a:p>
            <a:pPr indent="0" marL="0">
              <a:buNone/>
            </a:pPr>
            <a:r>
              <a:rPr lang="en-US" sz="1200" dirty="0">
                <a:solidFill>
                  <a:schemeClr val="bg1"/>
                </a:solidFill>
              </a:rPr>
              <a:t>React documentation: react.dev</a:t>
            </a:r>
            <a:endParaRPr lang="en-US" sz="1200" dirty="0"/>
          </a:p>
        </p:txBody>
      </p:sp>
      <p:sp>
        <p:nvSpPr>
          <p:cNvPr id="12" name="Reference"/>
          <p:cNvSpPr txBox="1"/>
          <p:nvPr/>
        </p:nvSpPr>
        <p:spPr>
          <a:xfrm>
            <a:off x="4937760" y="1847088"/>
            <a:ext cx="3611880" cy="274320"/>
          </a:xfrm>
          <a:prstGeom prst="rect">
            <a:avLst/>
          </a:prstGeom>
          <a:noFill/>
          <a:ln/>
        </p:spPr>
        <p:txBody>
          <a:bodyPr wrap="square" lIns="0" tIns="0" rIns="0" bIns="0" rtlCol="0" anchor="ctr"/>
          <a:lstStyle/>
          <a:p>
            <a:pPr indent="0" marL="0">
              <a:buNone/>
            </a:pPr>
            <a:r>
              <a:rPr lang="en-US" sz="1200" dirty="0">
                <a:solidFill>
                  <a:schemeClr val="bg1"/>
                </a:solidFill>
              </a:rPr>
              <a:t>Vite documentation: vite.dev</a:t>
            </a:r>
            <a:endParaRPr lang="en-US" sz="1200" dirty="0"/>
          </a:p>
        </p:txBody>
      </p:sp>
      <p:sp>
        <p:nvSpPr>
          <p:cNvPr id="13" name="Reference"/>
          <p:cNvSpPr txBox="1"/>
          <p:nvPr/>
        </p:nvSpPr>
        <p:spPr>
          <a:xfrm>
            <a:off x="4937760" y="2139696"/>
            <a:ext cx="3611880" cy="274320"/>
          </a:xfrm>
          <a:prstGeom prst="rect">
            <a:avLst/>
          </a:prstGeom>
          <a:noFill/>
          <a:ln/>
        </p:spPr>
        <p:txBody>
          <a:bodyPr wrap="square" lIns="0" tIns="0" rIns="0" bIns="0" rtlCol="0" anchor="ctr"/>
          <a:lstStyle/>
          <a:p>
            <a:pPr indent="0" marL="0">
              <a:buNone/>
            </a:pPr>
            <a:r>
              <a:rPr lang="en-US" sz="1200" dirty="0">
                <a:solidFill>
                  <a:schemeClr val="bg1"/>
                </a:solidFill>
              </a:rPr>
              <a:t>Node.js documentation: nodejs.org</a:t>
            </a:r>
            <a:endParaRPr lang="en-US" sz="1200" dirty="0"/>
          </a:p>
        </p:txBody>
      </p:sp>
      <p:sp>
        <p:nvSpPr>
          <p:cNvPr id="14" name="Reference"/>
          <p:cNvSpPr txBox="1"/>
          <p:nvPr/>
        </p:nvSpPr>
        <p:spPr>
          <a:xfrm>
            <a:off x="4937760" y="2432304"/>
            <a:ext cx="3611880" cy="274320"/>
          </a:xfrm>
          <a:prstGeom prst="rect">
            <a:avLst/>
          </a:prstGeom>
          <a:noFill/>
          <a:ln/>
        </p:spPr>
        <p:txBody>
          <a:bodyPr wrap="square" lIns="0" tIns="0" rIns="0" bIns="0" rtlCol="0" anchor="ctr"/>
          <a:lstStyle/>
          <a:p>
            <a:pPr indent="0" marL="0">
              <a:buNone/>
            </a:pPr>
            <a:r>
              <a:rPr lang="en-US" sz="1200" dirty="0">
                <a:solidFill>
                  <a:schemeClr val="bg1"/>
                </a:solidFill>
              </a:rPr>
              <a:t>Express.js documentation: expressjs.com</a:t>
            </a:r>
            <a:endParaRPr lang="en-US" sz="1200" dirty="0"/>
          </a:p>
        </p:txBody>
      </p:sp>
      <p:sp>
        <p:nvSpPr>
          <p:cNvPr id="15" name="Reference"/>
          <p:cNvSpPr txBox="1"/>
          <p:nvPr/>
        </p:nvSpPr>
        <p:spPr>
          <a:xfrm>
            <a:off x="4937760" y="2724912"/>
            <a:ext cx="3611880" cy="274320"/>
          </a:xfrm>
          <a:prstGeom prst="rect">
            <a:avLst/>
          </a:prstGeom>
          <a:noFill/>
          <a:ln/>
        </p:spPr>
        <p:txBody>
          <a:bodyPr wrap="square" lIns="0" tIns="0" rIns="0" bIns="0" rtlCol="0" anchor="ctr"/>
          <a:lstStyle/>
          <a:p>
            <a:pPr indent="0" marL="0">
              <a:buNone/>
            </a:pPr>
            <a:r>
              <a:rPr lang="en-US" sz="1200" dirty="0">
                <a:solidFill>
                  <a:schemeClr val="bg1"/>
                </a:solidFill>
              </a:rPr>
              <a:t>MongoDB documentation: mongodb.com/docs</a:t>
            </a:r>
            <a:endParaRPr lang="en-US" sz="1200" dirty="0"/>
          </a:p>
        </p:txBody>
      </p:sp>
      <p:sp>
        <p:nvSpPr>
          <p:cNvPr id="16" name="Reference"/>
          <p:cNvSpPr txBox="1"/>
          <p:nvPr/>
        </p:nvSpPr>
        <p:spPr>
          <a:xfrm>
            <a:off x="4937760" y="3017520"/>
            <a:ext cx="3611880" cy="274320"/>
          </a:xfrm>
          <a:prstGeom prst="rect">
            <a:avLst/>
          </a:prstGeom>
          <a:noFill/>
          <a:ln/>
        </p:spPr>
        <p:txBody>
          <a:bodyPr wrap="square" lIns="0" tIns="0" rIns="0" bIns="0" rtlCol="0" anchor="ctr"/>
          <a:lstStyle/>
          <a:p>
            <a:pPr indent="0" marL="0">
              <a:buNone/>
            </a:pPr>
            <a:r>
              <a:rPr lang="en-US" sz="1200" dirty="0">
                <a:solidFill>
                  <a:schemeClr val="bg1"/>
                </a:solidFill>
              </a:rPr>
              <a:t>Mongoose documentation: mongoosejs.com</a:t>
            </a:r>
            <a:endParaRPr lang="en-US" sz="1200" dirty="0"/>
          </a:p>
        </p:txBody>
      </p:sp>
      <p:sp>
        <p:nvSpPr>
          <p:cNvPr id="17" name="Reference"/>
          <p:cNvSpPr txBox="1"/>
          <p:nvPr/>
        </p:nvSpPr>
        <p:spPr>
          <a:xfrm>
            <a:off x="4937760" y="3310128"/>
            <a:ext cx="3611880" cy="274320"/>
          </a:xfrm>
          <a:prstGeom prst="rect">
            <a:avLst/>
          </a:prstGeom>
          <a:noFill/>
          <a:ln/>
        </p:spPr>
        <p:txBody>
          <a:bodyPr wrap="square" lIns="0" tIns="0" rIns="0" bIns="0" rtlCol="0" anchor="ctr"/>
          <a:lstStyle/>
          <a:p>
            <a:pPr indent="0" marL="0">
              <a:buNone/>
            </a:pPr>
            <a:r>
              <a:rPr lang="en-US" sz="1200" dirty="0">
                <a:solidFill>
                  <a:schemeClr val="bg1"/>
                </a:solidFill>
              </a:rPr>
              <a:t>React Router: reactrouter.com</a:t>
            </a:r>
            <a:endParaRPr lang="en-US" sz="1200" dirty="0"/>
          </a:p>
        </p:txBody>
      </p:sp>
      <p:sp>
        <p:nvSpPr>
          <p:cNvPr id="18" name="Reference"/>
          <p:cNvSpPr txBox="1"/>
          <p:nvPr/>
        </p:nvSpPr>
        <p:spPr>
          <a:xfrm>
            <a:off x="4937760" y="3602736"/>
            <a:ext cx="3611880" cy="274320"/>
          </a:xfrm>
          <a:prstGeom prst="rect">
            <a:avLst/>
          </a:prstGeom>
          <a:noFill/>
          <a:ln/>
        </p:spPr>
        <p:txBody>
          <a:bodyPr wrap="square" lIns="0" tIns="0" rIns="0" bIns="0" rtlCol="0" anchor="ctr"/>
          <a:lstStyle/>
          <a:p>
            <a:pPr indent="0" marL="0">
              <a:buNone/>
            </a:pPr>
            <a:r>
              <a:rPr lang="en-US" sz="1200" dirty="0">
                <a:solidFill>
                  <a:schemeClr val="bg1"/>
                </a:solidFill>
              </a:rPr>
              <a:t>MDN Web Docs: developer.mozilla.org</a:t>
            </a:r>
            <a:endParaRPr lang="en-US" sz="1200" dirty="0"/>
          </a:p>
        </p:txBody>
      </p:sp>
      <p:sp>
        <p:nvSpPr>
          <p:cNvPr id="19" name="Reference"/>
          <p:cNvSpPr txBox="1"/>
          <p:nvPr/>
        </p:nvSpPr>
        <p:spPr>
          <a:xfrm>
            <a:off x="4937760" y="3895344"/>
            <a:ext cx="3611880" cy="274320"/>
          </a:xfrm>
          <a:prstGeom prst="rect">
            <a:avLst/>
          </a:prstGeom>
          <a:noFill/>
          <a:ln/>
        </p:spPr>
        <p:txBody>
          <a:bodyPr wrap="square" lIns="0" tIns="0" rIns="0" bIns="0" rtlCol="0" anchor="ctr"/>
          <a:lstStyle/>
          <a:p>
            <a:pPr indent="0" marL="0">
              <a:buNone/>
            </a:pPr>
            <a:r>
              <a:rPr lang="en-US" sz="1200" dirty="0">
                <a:solidFill>
                  <a:schemeClr val="bg1"/>
                </a:solidFill>
              </a:rPr>
              <a:t>Git documentation: git-scm.com</a:t>
            </a:r>
            <a:endParaRPr lang="en-US" sz="1200" dirty="0"/>
          </a:p>
        </p:txBody>
      </p:sp>
      <p:sp>
        <p:nvSpPr>
          <p:cNvPr id="20" name="Reference"/>
          <p:cNvSpPr txBox="1"/>
          <p:nvPr/>
        </p:nvSpPr>
        <p:spPr>
          <a:xfrm>
            <a:off x="4937760" y="4187952"/>
            <a:ext cx="3611880" cy="274320"/>
          </a:xfrm>
          <a:prstGeom prst="rect">
            <a:avLst/>
          </a:prstGeom>
          <a:noFill/>
          <a:ln/>
        </p:spPr>
        <p:txBody>
          <a:bodyPr wrap="square" lIns="0" tIns="0" rIns="0" bIns="0" rtlCol="0" anchor="ctr"/>
          <a:lstStyle/>
          <a:p>
            <a:pPr indent="0" marL="0">
              <a:buNone/>
            </a:pPr>
            <a:r>
              <a:rPr lang="en-US" sz="1200" dirty="0">
                <a:solidFill>
                  <a:schemeClr val="bg1"/>
                </a:solidFill>
              </a:rPr>
              <a:t>Nodemailer: nodemailer.com</a:t>
            </a:r>
            <a:endParaRPr lang="en-US" sz="1200" dirty="0"/>
          </a:p>
        </p:txBody>
      </p:sp>
      <p:sp>
        <p:nvSpPr>
          <p:cNvPr id="25" name="Slide Number Placeholder 0"/>
          <p:cNvSpPr>
            <a:spLocks noGrp="1"/>
          </p:cNvSpPr>
          <p:nvPr>
            <p:ph type="sldNum" sz="quarter" idx="4294967295"/>
          </p:nvPr>
        </p:nvSpPr>
        <p:spPr>
          <a:xfrm>
            <a:off x="8229600" y="4828032"/>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ShopEase">
  <a:themeElements>
    <a:clrScheme name="ShopEase">
      <a:dk1>
        <a:srgbClr val="17261F"/>
      </a:dk1>
      <a:lt1>
        <a:srgbClr val="FFFFFF"/>
      </a:lt1>
      <a:dk2>
        <a:srgbClr val="1F4D3A"/>
      </a:dk2>
      <a:lt2>
        <a:srgbClr val="EAF3EE"/>
      </a:lt2>
      <a:accent1>
        <a:srgbClr val="1F4D3A"/>
      </a:accent1>
      <a:accent2>
        <a:srgbClr val="2F8F6B"/>
      </a:accent2>
      <a:accent3>
        <a:srgbClr val="E2A03A"/>
      </a:accent3>
      <a:accent4>
        <a:srgbClr val="C4533B"/>
      </a:accent4>
      <a:accent5>
        <a:srgbClr val="3F72AF"/>
      </a:accent5>
      <a:accent6>
        <a:srgbClr val="5A6A62"/>
      </a:accent6>
      <a:hlink>
        <a:srgbClr val="3F72AF"/>
      </a:hlink>
      <a:folHlink>
        <a:srgbClr val="5A6A62"/>
      </a:folHlink>
    </a:clrScheme>
    <a:fontScheme name="ShopEa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Website – ShopEase: Summer Internship Presentation</dc:title>
  <dc:subject>PptxGenJS Presentation</dc:subject>
  <dc:creator>Arul Jebaraj M</dc:creator>
  <cp:lastModifiedBy>Arul Jebaraj M</cp:lastModifiedBy>
  <cp:revision>1</cp:revision>
  <dcterms:created xsi:type="dcterms:W3CDTF">2026-10-27T22:57:21Z</dcterms:created>
  <dcterms:modified xsi:type="dcterms:W3CDTF">2026-10-27T22:57:21Z</dcterms:modified>
</cp:coreProperties>
</file>